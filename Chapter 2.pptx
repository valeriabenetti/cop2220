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81"/>
  </p:handoutMasterIdLst>
  <p:sldIdLst>
    <p:sldId id="261" r:id="rId5"/>
    <p:sldId id="259" r:id="rId6"/>
    <p:sldId id="260" r:id="rId7"/>
    <p:sldId id="305" r:id="rId8"/>
    <p:sldId id="263" r:id="rId9"/>
    <p:sldId id="262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6" r:id="rId18"/>
    <p:sldId id="317" r:id="rId19"/>
    <p:sldId id="313" r:id="rId20"/>
    <p:sldId id="314" r:id="rId21"/>
    <p:sldId id="315" r:id="rId22"/>
    <p:sldId id="318" r:id="rId23"/>
    <p:sldId id="319" r:id="rId24"/>
    <p:sldId id="320" r:id="rId25"/>
    <p:sldId id="322" r:id="rId26"/>
    <p:sldId id="321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5" r:id="rId39"/>
    <p:sldId id="334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8" r:id="rId53"/>
    <p:sldId id="349" r:id="rId54"/>
    <p:sldId id="350" r:id="rId55"/>
    <p:sldId id="351" r:id="rId56"/>
    <p:sldId id="353" r:id="rId57"/>
    <p:sldId id="352" r:id="rId58"/>
    <p:sldId id="354" r:id="rId59"/>
    <p:sldId id="355" r:id="rId60"/>
    <p:sldId id="356" r:id="rId61"/>
    <p:sldId id="357" r:id="rId62"/>
    <p:sldId id="358" r:id="rId63"/>
    <p:sldId id="359" r:id="rId64"/>
    <p:sldId id="360" r:id="rId65"/>
    <p:sldId id="362" r:id="rId66"/>
    <p:sldId id="363" r:id="rId67"/>
    <p:sldId id="361" r:id="rId68"/>
    <p:sldId id="364" r:id="rId69"/>
    <p:sldId id="365" r:id="rId70"/>
    <p:sldId id="366" r:id="rId71"/>
    <p:sldId id="367" r:id="rId72"/>
    <p:sldId id="368" r:id="rId73"/>
    <p:sldId id="369" r:id="rId74"/>
    <p:sldId id="370" r:id="rId75"/>
    <p:sldId id="371" r:id="rId76"/>
    <p:sldId id="372" r:id="rId77"/>
    <p:sldId id="373" r:id="rId78"/>
    <p:sldId id="375" r:id="rId79"/>
    <p:sldId id="374" r:id="rId8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218"/>
    <a:srgbClr val="0488AE"/>
    <a:srgbClr val="E6FCFE"/>
    <a:srgbClr val="DAFBF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5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presProps" Target="presProp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07BD62A-4678-40CC-9AC5-E5D57BEB41BC}" type="datetimeFigureOut">
              <a:rPr lang="en-US"/>
              <a:pPr>
                <a:defRPr/>
              </a:pPr>
              <a:t>1/14/2020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01AB739-2B7B-406A-961E-3A84E65C96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28600"/>
            <a:ext cx="1341438" cy="1676400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8000">
                <a:solidFill>
                  <a:srgbClr val="0488AE"/>
                </a:solidFill>
              </a:defRPr>
            </a:lvl1pPr>
          </a:lstStyle>
          <a:p>
            <a:r>
              <a:rPr lang="en-US" dirty="0"/>
              <a:t>Section #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34200" y="6245225"/>
            <a:ext cx="1752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72206-9774-48FC-94E2-A09A518889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8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Tx/>
              <a:buBlip>
                <a:blip r:embed="rId2"/>
              </a:buBlip>
              <a:defRPr/>
            </a:lvl1pPr>
            <a:lvl2pPr marL="742950" indent="-28575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257B9-CA3F-4B7C-B2BA-752F2C9E65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58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9F8A0-607F-4831-9711-03502297E4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82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523ED-69A0-4234-A19A-4C5DC2E68D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39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BF3D03-31AA-424C-A562-F8225262D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22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47254-A62F-4C0C-A10D-0FA956B497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307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A4906-B6E0-4677-9BFF-E4A78553E5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2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1F473-7DE2-48CC-BB7D-5F6B4C9334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86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8F81C-C783-4E82-B12E-DE17FD2487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277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6E289-54CE-4A2B-A345-A8ED42ED0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80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A592B-3298-42B5-A1CE-A99C6EC52A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34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411A619-F98B-4889-BDAC-C896E00C58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9" name="Text Box 14"/>
          <p:cNvSpPr txBox="1">
            <a:spLocks noChangeArrowheads="1"/>
          </p:cNvSpPr>
          <p:nvPr userDrawn="1"/>
        </p:nvSpPr>
        <p:spPr bwMode="auto">
          <a:xfrm>
            <a:off x="1219200" y="6353175"/>
            <a:ext cx="5257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dirty="0">
                <a:latin typeface="Times New Roman" pitchFamily="18" charset="0"/>
              </a:rPr>
              <a:t>Copyright © 2018, 2015, 2012, 2009 Pearson Education, Inc. All rights reserved.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329363"/>
            <a:ext cx="9525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3576638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4400" b="1">
                <a:solidFill>
                  <a:srgbClr val="0488AE"/>
                </a:solidFill>
              </a:rPr>
              <a:t>Chapter 2:</a:t>
            </a:r>
            <a:endParaRPr lang="en-US" altLang="en-US" sz="2800" b="1"/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/>
              <a:t>Introduction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/>
              <a:t>to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/>
              <a:t>C++</a:t>
            </a:r>
          </a:p>
        </p:txBody>
      </p:sp>
      <p:pic>
        <p:nvPicPr>
          <p:cNvPr id="3" name="Picture 2" descr="Cover of C++ Textbook" title="Cover of C++ Textbook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533400"/>
            <a:ext cx="4189413" cy="5240338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2.1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Parts of a C++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Parts of a C++ Program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// sample C++ program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#include &lt;iostream&gt;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using namespace std;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int main()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		cout &lt;&lt; "Hello, there!";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		return 0;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6148" name="Line 4" descr="C++ comment syntax" title="Line pointing to comment"/>
          <p:cNvSpPr>
            <a:spLocks noChangeShapeType="1"/>
          </p:cNvSpPr>
          <p:nvPr/>
        </p:nvSpPr>
        <p:spPr bwMode="auto">
          <a:xfrm flipH="1">
            <a:off x="5181600" y="1889125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172200" y="1660525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comment</a:t>
            </a:r>
          </a:p>
        </p:txBody>
      </p:sp>
      <p:sp>
        <p:nvSpPr>
          <p:cNvPr id="6150" name="Line 4" descr="Example of C++ preprocessor directive" title="Line pointing to preprocessor directive"/>
          <p:cNvSpPr>
            <a:spLocks noChangeShapeType="1"/>
          </p:cNvSpPr>
          <p:nvPr/>
        </p:nvSpPr>
        <p:spPr bwMode="auto">
          <a:xfrm flipH="1">
            <a:off x="4683125" y="2409825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Text Box 5"/>
          <p:cNvSpPr txBox="1">
            <a:spLocks noChangeArrowheads="1"/>
          </p:cNvSpPr>
          <p:nvPr/>
        </p:nvSpPr>
        <p:spPr bwMode="auto">
          <a:xfrm>
            <a:off x="5673725" y="2181225"/>
            <a:ext cx="2860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preprocessor directive</a:t>
            </a:r>
          </a:p>
        </p:txBody>
      </p:sp>
      <p:sp>
        <p:nvSpPr>
          <p:cNvPr id="6152" name="Line 4" descr="Indicating a namespace" title="Line pointing to namespace"/>
          <p:cNvSpPr>
            <a:spLocks noChangeShapeType="1"/>
          </p:cNvSpPr>
          <p:nvPr/>
        </p:nvSpPr>
        <p:spPr bwMode="auto">
          <a:xfrm flipH="1">
            <a:off x="4800600" y="2895600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Text Box 5"/>
          <p:cNvSpPr txBox="1">
            <a:spLocks noChangeArrowheads="1"/>
          </p:cNvSpPr>
          <p:nvPr/>
        </p:nvSpPr>
        <p:spPr bwMode="auto">
          <a:xfrm>
            <a:off x="5791200" y="2667000"/>
            <a:ext cx="3124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which namespace to use</a:t>
            </a:r>
          </a:p>
        </p:txBody>
      </p:sp>
      <p:sp>
        <p:nvSpPr>
          <p:cNvPr id="6154" name="Line 4" descr="Indicates beginning of the main function" title="Line pointing to main"/>
          <p:cNvSpPr>
            <a:spLocks noChangeShapeType="1"/>
          </p:cNvSpPr>
          <p:nvPr/>
        </p:nvSpPr>
        <p:spPr bwMode="auto">
          <a:xfrm flipH="1">
            <a:off x="2743200" y="3429000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Text Box 5"/>
          <p:cNvSpPr txBox="1">
            <a:spLocks noChangeArrowheads="1"/>
          </p:cNvSpPr>
          <p:nvPr/>
        </p:nvSpPr>
        <p:spPr bwMode="auto">
          <a:xfrm>
            <a:off x="3744913" y="3228975"/>
            <a:ext cx="419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beginning of function named </a:t>
            </a:r>
            <a:r>
              <a:rPr lang="en-US" altLang="en-US" sz="200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156" name="Line 4" descr="The start of the main function" title="Line point to beginning of block"/>
          <p:cNvSpPr>
            <a:spLocks noChangeShapeType="1"/>
          </p:cNvSpPr>
          <p:nvPr/>
        </p:nvSpPr>
        <p:spPr bwMode="auto">
          <a:xfrm flipH="1">
            <a:off x="800100" y="3886200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Text Box 5"/>
          <p:cNvSpPr txBox="1">
            <a:spLocks noChangeArrowheads="1"/>
          </p:cNvSpPr>
          <p:nvPr/>
        </p:nvSpPr>
        <p:spPr bwMode="auto">
          <a:xfrm>
            <a:off x="1801813" y="3686175"/>
            <a:ext cx="419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beginning of block for </a:t>
            </a:r>
            <a:r>
              <a:rPr lang="en-US" altLang="en-US" sz="200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158" name="Line 4" descr="Example output statement in C++" title="Line pointing to output statement"/>
          <p:cNvSpPr>
            <a:spLocks noChangeShapeType="1"/>
          </p:cNvSpPr>
          <p:nvPr/>
        </p:nvSpPr>
        <p:spPr bwMode="auto">
          <a:xfrm flipH="1" flipV="1">
            <a:off x="6542088" y="4414838"/>
            <a:ext cx="2286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Text Box 5"/>
          <p:cNvSpPr txBox="1">
            <a:spLocks noChangeArrowheads="1"/>
          </p:cNvSpPr>
          <p:nvPr/>
        </p:nvSpPr>
        <p:spPr bwMode="auto">
          <a:xfrm>
            <a:off x="6819900" y="4224338"/>
            <a:ext cx="419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output statement</a:t>
            </a:r>
            <a:endParaRPr lang="en-US" altLang="en-US" sz="2000">
              <a:solidFill>
                <a:srgbClr val="FA821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60" name="Line 4" descr="Example of the C++ return statement" title="Line pointing to return statement"/>
          <p:cNvSpPr>
            <a:spLocks noChangeShapeType="1"/>
          </p:cNvSpPr>
          <p:nvPr/>
        </p:nvSpPr>
        <p:spPr bwMode="auto">
          <a:xfrm flipH="1">
            <a:off x="3341688" y="5000625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Text Box 5"/>
          <p:cNvSpPr txBox="1">
            <a:spLocks noChangeArrowheads="1"/>
          </p:cNvSpPr>
          <p:nvPr/>
        </p:nvSpPr>
        <p:spPr bwMode="auto">
          <a:xfrm>
            <a:off x="4343400" y="4800600"/>
            <a:ext cx="419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Send </a:t>
            </a:r>
            <a:r>
              <a:rPr lang="en-US" altLang="en-US" sz="200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000">
                <a:solidFill>
                  <a:srgbClr val="FA8218"/>
                </a:solidFill>
              </a:rPr>
              <a:t> to operating system</a:t>
            </a:r>
            <a:endParaRPr lang="en-US" altLang="en-US" sz="2000">
              <a:solidFill>
                <a:srgbClr val="FA821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62" name="Line 4" descr="End of main function" title="Line indicating the close of the main function"/>
          <p:cNvSpPr>
            <a:spLocks noChangeShapeType="1"/>
          </p:cNvSpPr>
          <p:nvPr/>
        </p:nvSpPr>
        <p:spPr bwMode="auto">
          <a:xfrm flipH="1">
            <a:off x="800100" y="5486400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Text Box 5"/>
          <p:cNvSpPr txBox="1">
            <a:spLocks noChangeArrowheads="1"/>
          </p:cNvSpPr>
          <p:nvPr/>
        </p:nvSpPr>
        <p:spPr bwMode="auto">
          <a:xfrm>
            <a:off x="1801813" y="5286375"/>
            <a:ext cx="2617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end of block for </a:t>
            </a:r>
            <a:r>
              <a:rPr lang="en-US" altLang="en-US" sz="200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grpSp>
        <p:nvGrpSpPr>
          <p:cNvPr id="6164" name="Group 28" descr="Hello is an exammple of a string literal." title="String literal"/>
          <p:cNvGrpSpPr>
            <a:grpSpLocks/>
          </p:cNvGrpSpPr>
          <p:nvPr/>
        </p:nvGrpSpPr>
        <p:grpSpPr bwMode="auto">
          <a:xfrm>
            <a:off x="4621213" y="4616450"/>
            <a:ext cx="2949575" cy="312738"/>
            <a:chOff x="3216" y="2928"/>
            <a:chExt cx="1858" cy="197"/>
          </a:xfrm>
        </p:grpSpPr>
        <p:sp>
          <p:nvSpPr>
            <p:cNvPr id="6166" name="Line 16"/>
            <p:cNvSpPr>
              <a:spLocks noChangeShapeType="1"/>
            </p:cNvSpPr>
            <p:nvPr/>
          </p:nvSpPr>
          <p:spPr bwMode="auto">
            <a:xfrm flipH="1" flipV="1">
              <a:off x="3216" y="3024"/>
              <a:ext cx="912" cy="0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Text Box 17"/>
            <p:cNvSpPr txBox="1">
              <a:spLocks noChangeArrowheads="1"/>
            </p:cNvSpPr>
            <p:nvPr/>
          </p:nvSpPr>
          <p:spPr bwMode="auto">
            <a:xfrm>
              <a:off x="4080" y="2928"/>
              <a:ext cx="99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string literal</a:t>
              </a:r>
            </a:p>
          </p:txBody>
        </p:sp>
      </p:grpSp>
      <p:sp>
        <p:nvSpPr>
          <p:cNvPr id="6165" name="Line 16" title="Decorative"/>
          <p:cNvSpPr>
            <a:spLocks noChangeShapeType="1"/>
          </p:cNvSpPr>
          <p:nvPr/>
        </p:nvSpPr>
        <p:spPr bwMode="auto">
          <a:xfrm flipH="1" flipV="1">
            <a:off x="4621213" y="4548188"/>
            <a:ext cx="0" cy="22860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Special Characters</a:t>
            </a:r>
          </a:p>
        </p:txBody>
      </p:sp>
      <p:graphicFrame>
        <p:nvGraphicFramePr>
          <p:cNvPr id="4" name="Group 3" title="Special characters in C++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12188"/>
              </p:ext>
            </p:extLst>
          </p:nvPr>
        </p:nvGraphicFramePr>
        <p:xfrm>
          <a:off x="723900" y="1371600"/>
          <a:ext cx="7696200" cy="46831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Character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Meaning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//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Double slash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Beginning of a comment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#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Pound sign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Beginning of preprocessor directive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 &gt;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Open/close brackets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Enclose filename in #include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( 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Open/close parentheses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Used when naming a function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{ }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Open/close brace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Encloses a group of statements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" "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Open/close quotation marks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Encloses string of characters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Semicolon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End of a programming statement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2.2</a:t>
            </a:r>
          </a:p>
        </p:txBody>
      </p:sp>
      <p:sp>
        <p:nvSpPr>
          <p:cNvPr id="819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mtClean="0"/>
              <a:t> Object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mtClean="0"/>
              <a:t> Object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Displays output on the computer screen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You use the stream insertion operator </a:t>
            </a:r>
            <a:r>
              <a:rPr lang="en-US" altLang="en-US" dirty="0">
                <a:latin typeface="Courier New" pitchFamily="-16" charset="0"/>
              </a:rPr>
              <a:t>&lt;&lt;</a:t>
            </a:r>
            <a:r>
              <a:rPr lang="en-US" altLang="en-US" dirty="0"/>
              <a:t> to send output to </a:t>
            </a:r>
            <a:r>
              <a:rPr lang="en-US" altLang="en-US" dirty="0">
                <a:latin typeface="Courier New" pitchFamily="-16" charset="0"/>
              </a:rPr>
              <a:t>cout</a:t>
            </a:r>
            <a:r>
              <a:rPr lang="en-US" altLang="en-US" dirty="0"/>
              <a:t>:</a:t>
            </a:r>
            <a:br>
              <a:rPr lang="en-US" altLang="en-US" dirty="0"/>
            </a:br>
            <a:endParaRPr lang="en-US" altLang="en-US" dirty="0"/>
          </a:p>
          <a:p>
            <a:pPr lvl="1" eaLnBrk="1" hangingPunct="1">
              <a:buFontTx/>
              <a:buNone/>
              <a:defRPr/>
            </a:pPr>
            <a:r>
              <a:rPr lang="en-US" altLang="en-US" dirty="0">
                <a:latin typeface="Courier New" pitchFamily="-16" charset="0"/>
              </a:rPr>
              <a:t>	cout &lt;&lt; "Programming is fun!";</a:t>
            </a:r>
            <a:endParaRPr lang="en-US" altLang="en-US" dirty="0"/>
          </a:p>
          <a:p>
            <a:pPr marL="514350" indent="-514350"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mtClean="0"/>
              <a:t> Object</a:t>
            </a:r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Can be used to send more than one item to cout: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cout &lt;&lt; "Hello " &lt;&lt; "there!";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en-US" smtClean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/>
              <a:t>Or: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cout &lt;&lt; "Hello ";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cout &lt;&lt; "there!";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mtClean="0"/>
              <a:t> Object</a:t>
            </a:r>
          </a:p>
        </p:txBody>
      </p:sp>
      <p:sp>
        <p:nvSpPr>
          <p:cNvPr id="112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This produces one line of output: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>
                <a:latin typeface="Courier New" panose="02070309020205020404" pitchFamily="49" charset="0"/>
              </a:rPr>
              <a:t>cout &lt;&lt; "Programming is ";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en-US" altLang="en-US" smtClean="0">
                <a:latin typeface="Courier New" panose="02070309020205020404" pitchFamily="49" charset="0"/>
              </a:rPr>
              <a:t>cout &lt;&lt; "fun!";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en-US" smtClean="0"/>
              <a:t> Manipulator</a:t>
            </a:r>
          </a:p>
        </p:txBody>
      </p:sp>
      <p:sp>
        <p:nvSpPr>
          <p:cNvPr id="1229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You can use the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mtClean="0"/>
              <a:t> manipulator to start a new line of output. This will produce two lines of output: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800" smtClean="0">
                <a:latin typeface="Courier New" panose="02070309020205020404" pitchFamily="49" charset="0"/>
              </a:rPr>
              <a:t>cout &lt;&lt; "Programming is" &lt;&lt; endl;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cout &lt;&lt; "fun!";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en-US" smtClean="0"/>
              <a:t> Manipulator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457200" y="2057400"/>
            <a:ext cx="7315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cout &lt;&lt; "Programming is" &lt;&lt; endl;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cout &lt;&lt; "fun!";</a:t>
            </a:r>
          </a:p>
        </p:txBody>
      </p:sp>
      <p:pic>
        <p:nvPicPr>
          <p:cNvPr id="13316" name="Picture 3" descr="Monitor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8000"/>
            <a:ext cx="33528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3048000" y="3733800"/>
            <a:ext cx="23622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Programming is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fun!</a:t>
            </a:r>
            <a:endParaRPr lang="en-US" altLang="en-US" sz="36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en-US" smtClean="0"/>
              <a:t> Manipulator</a:t>
            </a:r>
          </a:p>
        </p:txBody>
      </p:sp>
      <p:sp>
        <p:nvSpPr>
          <p:cNvPr id="143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You do NOT put quotation marks around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  <a:p>
            <a:pPr eaLnBrk="1" hangingPunct="1"/>
            <a:r>
              <a:rPr lang="en-US" altLang="en-US" smtClean="0"/>
              <a:t>The last character in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mtClean="0">
                <a:solidFill>
                  <a:srgbClr val="FA8218"/>
                </a:solidFill>
              </a:rPr>
              <a:t> </a:t>
            </a:r>
            <a:r>
              <a:rPr lang="en-US" altLang="en-US" smtClean="0"/>
              <a:t>is a lowercase L, not the number 1.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279650" y="4724400"/>
            <a:ext cx="1173163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A8218"/>
                </a:solidFill>
                <a:latin typeface="Courier New" panose="02070309020205020404" pitchFamily="49" charset="0"/>
              </a:rPr>
              <a:t>endl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962400" y="4724400"/>
            <a:ext cx="403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FA8218"/>
                </a:solidFill>
              </a:rPr>
              <a:t>This is a lowercase L</a:t>
            </a:r>
          </a:p>
        </p:txBody>
      </p:sp>
      <p:sp>
        <p:nvSpPr>
          <p:cNvPr id="14342" name="Line 4" descr="endl indicates the end of an output line." title="endl"/>
          <p:cNvSpPr>
            <a:spLocks noChangeShapeType="1"/>
          </p:cNvSpPr>
          <p:nvPr/>
        </p:nvSpPr>
        <p:spPr bwMode="auto">
          <a:xfrm flipH="1">
            <a:off x="3352800" y="4876800"/>
            <a:ext cx="91440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\n </a:t>
            </a:r>
            <a:r>
              <a:rPr lang="en-US" altLang="en-US" smtClean="0"/>
              <a:t>Escape Sequence</a:t>
            </a:r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You can also use the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\n</a:t>
            </a:r>
            <a:r>
              <a:rPr lang="en-US" altLang="en-US" smtClean="0"/>
              <a:t> escape sequence to start a new line of output. This will produce two lines of output: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800" smtClean="0">
                <a:latin typeface="Courier New" panose="02070309020205020404" pitchFamily="49" charset="0"/>
              </a:rPr>
              <a:t>cout &lt;&lt; "Programming is\n";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cout &lt;&lt; "fun!";</a:t>
            </a:r>
          </a:p>
          <a:p>
            <a:pPr eaLnBrk="1" hangingPunct="1"/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657600" y="5334000"/>
            <a:ext cx="41259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A8218"/>
                </a:solidFill>
              </a:rPr>
              <a:t>Notice that the </a:t>
            </a:r>
            <a:r>
              <a:rPr lang="en-US" altLang="en-US" sz="2400" b="1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sz="2400">
                <a:solidFill>
                  <a:srgbClr val="FA8218"/>
                </a:solidFill>
              </a:rPr>
              <a:t> is INSIDE 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A8218"/>
                </a:solidFill>
              </a:rPr>
              <a:t>the string.</a:t>
            </a:r>
          </a:p>
        </p:txBody>
      </p:sp>
      <p:sp>
        <p:nvSpPr>
          <p:cNvPr id="15365" name="Line 4" descr="\n indicates the a new line within a string." title="Newline special character"/>
          <p:cNvSpPr>
            <a:spLocks noChangeShapeType="1"/>
          </p:cNvSpPr>
          <p:nvPr/>
        </p:nvSpPr>
        <p:spPr bwMode="auto">
          <a:xfrm flipH="1" flipV="1">
            <a:off x="6096000" y="4495800"/>
            <a:ext cx="0" cy="83820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\n </a:t>
            </a:r>
            <a:r>
              <a:rPr lang="en-US" altLang="en-US" smtClean="0"/>
              <a:t>Escape Sequence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685800" y="1752600"/>
            <a:ext cx="68580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cout &lt;&lt; "Programming is\n";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cout &lt;&lt; "fun!";</a:t>
            </a:r>
          </a:p>
        </p:txBody>
      </p:sp>
      <p:pic>
        <p:nvPicPr>
          <p:cNvPr id="16388" name="Picture 3" descr="Monitor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8000"/>
            <a:ext cx="33528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3048000" y="3733800"/>
            <a:ext cx="23622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Programming is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fun!</a:t>
            </a:r>
            <a:endParaRPr lang="en-US" altLang="en-US" sz="36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2.3</a:t>
            </a:r>
          </a:p>
        </p:txBody>
      </p:sp>
      <p:sp>
        <p:nvSpPr>
          <p:cNvPr id="17411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en-US" smtClean="0"/>
              <a:t> Directive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en-US" smtClean="0"/>
              <a:t> Directive</a:t>
            </a:r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Inserts the contents of another file into the program</a:t>
            </a:r>
          </a:p>
          <a:p>
            <a:pPr eaLnBrk="1" hangingPunct="1"/>
            <a:r>
              <a:rPr lang="en-US" altLang="en-US" smtClean="0"/>
              <a:t>This is a preprocessor directive, not part of C++ language</a:t>
            </a:r>
          </a:p>
          <a:p>
            <a:pPr eaLnBrk="1" hangingPunct="1"/>
            <a:r>
              <a:rPr lang="en-US" altLang="en-US" smtClean="0">
                <a:latin typeface="Courier New" panose="02070309020205020404" pitchFamily="49" charset="0"/>
              </a:rPr>
              <a:t>#include</a:t>
            </a:r>
            <a:r>
              <a:rPr lang="en-US" altLang="en-US" smtClean="0"/>
              <a:t> lines not seen by compiler</a:t>
            </a:r>
          </a:p>
          <a:p>
            <a:pPr eaLnBrk="1" hangingPunct="1"/>
            <a:r>
              <a:rPr lang="en-US" altLang="en-US" smtClean="0"/>
              <a:t>Do </a:t>
            </a:r>
            <a:r>
              <a:rPr lang="en-US" altLang="en-US" u="sng" smtClean="0"/>
              <a:t>not</a:t>
            </a:r>
            <a:r>
              <a:rPr lang="en-US" altLang="en-US" smtClean="0"/>
              <a:t> place a semicolon at end of </a:t>
            </a:r>
            <a:r>
              <a:rPr lang="en-US" altLang="en-US" smtClean="0">
                <a:latin typeface="Courier New" panose="02070309020205020404" pitchFamily="49" charset="0"/>
              </a:rPr>
              <a:t>#include</a:t>
            </a:r>
            <a:r>
              <a:rPr lang="en-US" altLang="en-US" smtClean="0"/>
              <a:t> line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2.4</a:t>
            </a:r>
          </a:p>
        </p:txBody>
      </p:sp>
      <p:sp>
        <p:nvSpPr>
          <p:cNvPr id="19459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Variables and Literals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Variables and Literals</a:t>
            </a:r>
          </a:p>
        </p:txBody>
      </p:sp>
      <p:sp>
        <p:nvSpPr>
          <p:cNvPr id="2048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smtClean="0"/>
              <a:t>Variable</a:t>
            </a:r>
            <a:r>
              <a:rPr lang="en-US" altLang="en-US" smtClean="0"/>
              <a:t>: a storage location in memory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/>
            <a:r>
              <a:rPr lang="en-US" altLang="en-US" smtClean="0"/>
              <a:t>Has a name and a type of data it can hold</a:t>
            </a:r>
          </a:p>
          <a:p>
            <a:pPr lvl="1" eaLnBrk="1" hangingPunct="1"/>
            <a:r>
              <a:rPr lang="en-US" altLang="en-US" smtClean="0"/>
              <a:t>Must be defined before it can be used: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int item;</a:t>
            </a:r>
            <a:endParaRPr lang="en-US" altLang="en-US" smtClean="0"/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Variable Definition in Program 2-7</a:t>
            </a:r>
          </a:p>
        </p:txBody>
      </p:sp>
      <p:pic>
        <p:nvPicPr>
          <p:cNvPr id="21507" name="Picture 2" descr="int number declares an integer variable named number." title="Program 2-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8738" y="1897063"/>
            <a:ext cx="6486525" cy="3933825"/>
          </a:xfrm>
          <a:noFill/>
        </p:spPr>
      </p:pic>
      <p:sp>
        <p:nvSpPr>
          <p:cNvPr id="21508" name="Oval 3" title="variable declaraction"/>
          <p:cNvSpPr>
            <a:spLocks noChangeArrowheads="1"/>
          </p:cNvSpPr>
          <p:nvPr/>
        </p:nvSpPr>
        <p:spPr bwMode="auto">
          <a:xfrm>
            <a:off x="2295525" y="3565525"/>
            <a:ext cx="1285875" cy="520700"/>
          </a:xfrm>
          <a:prstGeom prst="ellipse">
            <a:avLst/>
          </a:prstGeom>
          <a:noFill/>
          <a:ln w="254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4724400" y="3657600"/>
            <a:ext cx="244475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Variable Definition</a:t>
            </a:r>
          </a:p>
        </p:txBody>
      </p:sp>
      <p:sp>
        <p:nvSpPr>
          <p:cNvPr id="21510" name="Line 5" title="Variable declaration"/>
          <p:cNvSpPr>
            <a:spLocks noChangeShapeType="1"/>
          </p:cNvSpPr>
          <p:nvPr/>
        </p:nvSpPr>
        <p:spPr bwMode="auto">
          <a:xfrm flipH="1">
            <a:off x="3657600" y="3810000"/>
            <a:ext cx="108585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Literals</a:t>
            </a:r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smtClean="0"/>
              <a:t>Literal</a:t>
            </a:r>
            <a:r>
              <a:rPr lang="en-US" altLang="en-US" smtClean="0"/>
              <a:t>: a value that is written into a program’s code.</a:t>
            </a:r>
            <a:br>
              <a:rPr lang="en-US" altLang="en-US" smtClean="0"/>
            </a:br>
            <a:endParaRPr lang="en-US" altLang="en-US" smtClean="0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/>
              <a:t>	</a:t>
            </a:r>
            <a:r>
              <a:rPr lang="en-US" altLang="en-US" sz="2400" smtClean="0"/>
              <a:t>	</a:t>
            </a:r>
            <a:r>
              <a:rPr lang="en-US" altLang="en-US" sz="2800" smtClean="0">
                <a:latin typeface="Courier New" panose="02070309020205020404" pitchFamily="49" charset="0"/>
              </a:rPr>
              <a:t>"hello, there"</a:t>
            </a:r>
            <a:r>
              <a:rPr lang="en-US" altLang="en-US" sz="2800" smtClean="0"/>
              <a:t> </a:t>
            </a:r>
            <a:r>
              <a:rPr lang="en-US" altLang="en-US" sz="2800" smtClean="0">
                <a:solidFill>
                  <a:srgbClr val="FA8218"/>
                </a:solidFill>
              </a:rPr>
              <a:t>(string literal)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/>
              <a:t>		</a:t>
            </a:r>
            <a:r>
              <a:rPr lang="en-US" altLang="en-US" sz="2800" smtClean="0">
                <a:latin typeface="Courier New" panose="02070309020205020404" pitchFamily="49" charset="0"/>
              </a:rPr>
              <a:t>12 </a:t>
            </a:r>
            <a:r>
              <a:rPr lang="en-US" altLang="en-US" sz="2800" smtClean="0">
                <a:solidFill>
                  <a:srgbClr val="FA8218"/>
                </a:solidFill>
              </a:rPr>
              <a:t>(integer literal)</a:t>
            </a:r>
            <a:endParaRPr lang="en-US" altLang="en-US" sz="2800" u="sng" smtClean="0">
              <a:solidFill>
                <a:srgbClr val="FA8218"/>
              </a:solidFill>
            </a:endParaRP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Literal in Program 2-9</a:t>
            </a:r>
          </a:p>
        </p:txBody>
      </p:sp>
      <p:pic>
        <p:nvPicPr>
          <p:cNvPr id="23555" name="Picture 2" descr="apples = 20. 20 is an integer literal" title="variable assig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1709738"/>
            <a:ext cx="7908925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4267200" y="3276600"/>
            <a:ext cx="261620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20 is an integer literal</a:t>
            </a:r>
          </a:p>
        </p:txBody>
      </p:sp>
      <p:sp>
        <p:nvSpPr>
          <p:cNvPr id="23557" name="Line 5" title="Decorative"/>
          <p:cNvSpPr>
            <a:spLocks noChangeShapeType="1"/>
          </p:cNvSpPr>
          <p:nvPr/>
        </p:nvSpPr>
        <p:spPr bwMode="auto">
          <a:xfrm flipH="1">
            <a:off x="3048000" y="3429000"/>
            <a:ext cx="1143000" cy="60960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Oval 6" title="Decorative"/>
          <p:cNvSpPr/>
          <p:nvPr/>
        </p:nvSpPr>
        <p:spPr>
          <a:xfrm>
            <a:off x="2590800" y="3962400"/>
            <a:ext cx="457200" cy="304800"/>
          </a:xfrm>
          <a:prstGeom prst="ellipse">
            <a:avLst/>
          </a:prstGeom>
          <a:noFill/>
          <a:ln w="25400">
            <a:solidFill>
              <a:srgbClr val="FA82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String Literals in Program 2-9</a:t>
            </a:r>
          </a:p>
        </p:txBody>
      </p:sp>
      <p:pic>
        <p:nvPicPr>
          <p:cNvPr id="24579" name="Picture 2" descr="&quot;Today we sold &quot;&#10;&quot; bushels of apples.\n&quot;&#10;Examples of string literals" title="Program 2-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1709738"/>
            <a:ext cx="7908925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3733800" y="2971800"/>
            <a:ext cx="304800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A8218"/>
                </a:solidFill>
              </a:rPr>
              <a:t>These are string literals</a:t>
            </a:r>
          </a:p>
        </p:txBody>
      </p:sp>
      <p:sp>
        <p:nvSpPr>
          <p:cNvPr id="24581" name="Oval 4" title="Decorative"/>
          <p:cNvSpPr>
            <a:spLocks noChangeArrowheads="1"/>
          </p:cNvSpPr>
          <p:nvPr/>
        </p:nvSpPr>
        <p:spPr bwMode="auto">
          <a:xfrm>
            <a:off x="2514600" y="4076700"/>
            <a:ext cx="1828800" cy="519113"/>
          </a:xfrm>
          <a:prstGeom prst="ellipse">
            <a:avLst/>
          </a:prstGeom>
          <a:noFill/>
          <a:ln w="381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2" name="Line 5" title="Decorative"/>
          <p:cNvSpPr>
            <a:spLocks noChangeShapeType="1"/>
          </p:cNvSpPr>
          <p:nvPr/>
        </p:nvSpPr>
        <p:spPr bwMode="auto">
          <a:xfrm flipH="1">
            <a:off x="4114800" y="3352800"/>
            <a:ext cx="609600" cy="762000"/>
          </a:xfrm>
          <a:prstGeom prst="line">
            <a:avLst/>
          </a:prstGeom>
          <a:noFill/>
          <a:ln w="28575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583" name="Oval 4" title="Decorative"/>
          <p:cNvSpPr>
            <a:spLocks noChangeArrowheads="1"/>
          </p:cNvSpPr>
          <p:nvPr/>
        </p:nvSpPr>
        <p:spPr bwMode="auto">
          <a:xfrm>
            <a:off x="5791200" y="4079875"/>
            <a:ext cx="2590800" cy="519113"/>
          </a:xfrm>
          <a:prstGeom prst="ellipse">
            <a:avLst/>
          </a:prstGeom>
          <a:noFill/>
          <a:ln w="381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4" name="Line 5" title="Decorative"/>
          <p:cNvSpPr>
            <a:spLocks noChangeShapeType="1"/>
          </p:cNvSpPr>
          <p:nvPr/>
        </p:nvSpPr>
        <p:spPr bwMode="auto">
          <a:xfrm>
            <a:off x="5410200" y="3352800"/>
            <a:ext cx="762000" cy="685800"/>
          </a:xfrm>
          <a:prstGeom prst="line">
            <a:avLst/>
          </a:prstGeom>
          <a:noFill/>
          <a:ln w="28575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2.5</a:t>
            </a:r>
          </a:p>
        </p:txBody>
      </p:sp>
      <p:sp>
        <p:nvSpPr>
          <p:cNvPr id="25603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Identifiers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Identifiers</a:t>
            </a:r>
          </a:p>
        </p:txBody>
      </p:sp>
      <p:sp>
        <p:nvSpPr>
          <p:cNvPr id="266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identifier is a programmer-defined name for some part of a program: variables, functions, etc. 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C++ Key Words</a:t>
            </a:r>
          </a:p>
        </p:txBody>
      </p:sp>
      <p:pic>
        <p:nvPicPr>
          <p:cNvPr id="27651" name="Picture 4" title="C++ Keyword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1219200"/>
            <a:ext cx="6477000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046163" y="5715000"/>
            <a:ext cx="70516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600" i="1">
                <a:solidFill>
                  <a:srgbClr val="FA8218"/>
                </a:solidFill>
              </a:rPr>
              <a:t>You cannot use any of the C++ key words as an identifier. These words have reserved meaning.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Variable Names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variable name should represent the purpose of the variable. For example: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               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itemsOrdered</a:t>
            </a:r>
            <a:r>
              <a:rPr lang="en-US" altLang="en-US" b="1" smtClean="0">
                <a:latin typeface="Courier New" panose="02070309020205020404" pitchFamily="49" charset="0"/>
              </a:rPr>
              <a:t/>
            </a:r>
            <a:br>
              <a:rPr lang="en-US" altLang="en-US" b="1" smtClean="0">
                <a:latin typeface="Courier New" panose="02070309020205020404" pitchFamily="49" charset="0"/>
              </a:rPr>
            </a:br>
            <a:r>
              <a:rPr lang="en-US" altLang="en-US" b="1" smtClean="0">
                <a:latin typeface="Courier New" panose="02070309020205020404" pitchFamily="49" charset="0"/>
              </a:rPr>
              <a:t/>
            </a:r>
            <a:br>
              <a:rPr lang="en-US" altLang="en-US" b="1" smtClean="0">
                <a:latin typeface="Courier New" panose="02070309020205020404" pitchFamily="49" charset="0"/>
              </a:rPr>
            </a:br>
            <a:r>
              <a:rPr lang="en-US" altLang="en-US" smtClean="0"/>
              <a:t>The purpose of this variable is to hold the number of items ordered.</a:t>
            </a:r>
            <a:endParaRPr lang="en-US" altLang="en-US" b="1" smtClean="0">
              <a:latin typeface="Courier New" panose="02070309020205020404" pitchFamily="49" charset="0"/>
            </a:endParaRP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Identifier Rules</a:t>
            </a: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altLang="en-US" smtClean="0"/>
              <a:t>The first character of an identifier must be an alphabetic character or and underscore ( _ ), 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altLang="en-US" smtClean="0"/>
              <a:t>After the first character you may use alphabetic characters, numbers, or underscore characters.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altLang="en-US" smtClean="0"/>
              <a:t>Upper- and lowercase characters are distinct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Valid and Invalid Identifiers</a:t>
            </a:r>
          </a:p>
        </p:txBody>
      </p:sp>
      <p:graphicFrame>
        <p:nvGraphicFramePr>
          <p:cNvPr id="4" name="Group 36" title="Valid and Invalid Identifi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31522"/>
              </p:ext>
            </p:extLst>
          </p:nvPr>
        </p:nvGraphicFramePr>
        <p:xfrm>
          <a:off x="495300" y="1447800"/>
          <a:ext cx="8153400" cy="4495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IDENTIFIER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VALID?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REASON IF INVALID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totalSales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total_Sales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total.Sales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Cannot contain 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4thQtrSales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Cannot begin with digit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totalSale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Cannot contain 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2.6</a:t>
            </a:r>
          </a:p>
        </p:txBody>
      </p:sp>
      <p:sp>
        <p:nvSpPr>
          <p:cNvPr id="3174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Integer Data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Data Types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305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Blip>
                <a:blip r:embed="rId2"/>
              </a:buBlip>
              <a:defRPr/>
            </a:pPr>
            <a:r>
              <a:rPr lang="en-US" sz="2800" kern="0" dirty="0">
                <a:latin typeface="+mn-lt"/>
                <a:cs typeface="+mn-cs"/>
              </a:rPr>
              <a:t>Integer variables can hold whole numbers such as 12, 7, and -99.</a:t>
            </a:r>
            <a:br>
              <a:rPr lang="en-US" sz="2800" kern="0" dirty="0">
                <a:latin typeface="+mn-lt"/>
                <a:cs typeface="+mn-cs"/>
              </a:rPr>
            </a:br>
            <a:endParaRPr lang="en-US" sz="2800" kern="0" dirty="0">
              <a:latin typeface="+mn-lt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800" kern="0" dirty="0">
              <a:latin typeface="+mn-lt"/>
              <a:cs typeface="+mn-cs"/>
            </a:endParaRPr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2667000"/>
            <a:ext cx="8048625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Defining Variables</a:t>
            </a:r>
          </a:p>
        </p:txBody>
      </p:sp>
      <p:sp>
        <p:nvSpPr>
          <p:cNvPr id="337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Variables of the same type can be defined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- On  separate lines: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	</a:t>
            </a:r>
            <a:r>
              <a:rPr lang="en-US" altLang="en-US" sz="2000" smtClean="0">
                <a:latin typeface="Courier New" panose="02070309020205020404" pitchFamily="49" charset="0"/>
              </a:rPr>
              <a:t>int length;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int width;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unsigned int area;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- On the same line: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/>
              <a:t>	</a:t>
            </a:r>
            <a:r>
              <a:rPr lang="en-US" altLang="en-US" sz="2000" smtClean="0">
                <a:latin typeface="Courier New" panose="02070309020205020404" pitchFamily="49" charset="0"/>
              </a:rPr>
              <a:t>int length, width;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unsigned int area;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Variables of different types must be in different definitions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1628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Types in Program 2-10</a:t>
            </a:r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4191000" y="2819400"/>
            <a:ext cx="38862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FA8218"/>
                </a:solidFill>
              </a:rPr>
              <a:t>This program has three variables: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FA8218"/>
                </a:solidFill>
              </a:rPr>
              <a:t>checking, miles, and diameter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Literals</a:t>
            </a:r>
          </a:p>
        </p:txBody>
      </p:sp>
      <p:sp>
        <p:nvSpPr>
          <p:cNvPr id="358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integer literal is an integer value that is typed into a program’s code. For example: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  <a:t>     itemsOrdered = 15;</a:t>
            </a:r>
            <a:b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</a:rPr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In this code, 15 is an integer literal.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078663" cy="49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Literals in Program 2-10</a:t>
            </a:r>
          </a:p>
        </p:txBody>
      </p:sp>
      <p:sp>
        <p:nvSpPr>
          <p:cNvPr id="36868" name="Oval 3"/>
          <p:cNvSpPr>
            <a:spLocks noChangeArrowheads="1"/>
          </p:cNvSpPr>
          <p:nvPr/>
        </p:nvSpPr>
        <p:spPr bwMode="auto">
          <a:xfrm>
            <a:off x="2335213" y="3665538"/>
            <a:ext cx="461962" cy="285750"/>
          </a:xfrm>
          <a:prstGeom prst="ellipse">
            <a:avLst/>
          </a:prstGeom>
          <a:noFill/>
          <a:ln w="254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69" name="Oval 4"/>
          <p:cNvSpPr>
            <a:spLocks noChangeArrowheads="1"/>
          </p:cNvSpPr>
          <p:nvPr/>
        </p:nvSpPr>
        <p:spPr bwMode="auto">
          <a:xfrm>
            <a:off x="1985963" y="3906838"/>
            <a:ext cx="615950" cy="274637"/>
          </a:xfrm>
          <a:prstGeom prst="ellipse">
            <a:avLst/>
          </a:prstGeom>
          <a:noFill/>
          <a:ln w="254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0" name="Oval 5"/>
          <p:cNvSpPr>
            <a:spLocks noChangeArrowheads="1"/>
          </p:cNvSpPr>
          <p:nvPr/>
        </p:nvSpPr>
        <p:spPr bwMode="auto">
          <a:xfrm>
            <a:off x="2327275" y="4114800"/>
            <a:ext cx="873125" cy="325438"/>
          </a:xfrm>
          <a:prstGeom prst="ellipse">
            <a:avLst/>
          </a:prstGeom>
          <a:noFill/>
          <a:ln w="25400">
            <a:solidFill>
              <a:srgbClr val="FA821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4678363" y="3362325"/>
            <a:ext cx="230663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FA8218"/>
                </a:solidFill>
              </a:rPr>
              <a:t>Integer Literals</a:t>
            </a:r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 flipH="1">
            <a:off x="2859088" y="3478213"/>
            <a:ext cx="1843087" cy="33020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 flipH="1">
            <a:off x="2636838" y="3478213"/>
            <a:ext cx="2065337" cy="560387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 flipH="1">
            <a:off x="3171825" y="3478213"/>
            <a:ext cx="1530350" cy="703262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Integer Literals</a:t>
            </a:r>
          </a:p>
        </p:txBody>
      </p:sp>
      <p:sp>
        <p:nvSpPr>
          <p:cNvPr id="3789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Integer literals are stored in memory as </a:t>
            </a:r>
            <a:r>
              <a:rPr lang="en-US" altLang="en-US" smtClean="0">
                <a:latin typeface="Courier New" panose="02070309020205020404" pitchFamily="49" charset="0"/>
              </a:rPr>
              <a:t>int</a:t>
            </a:r>
            <a:r>
              <a:rPr lang="en-US" altLang="en-US" smtClean="0"/>
              <a:t>s by default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smtClean="0"/>
              <a:t>To store an integer constant in a long memory location, put ‘</a:t>
            </a:r>
            <a:r>
              <a:rPr lang="en-US" altLang="en-US" sz="2400" smtClean="0">
                <a:latin typeface="Courier New" panose="02070309020205020404" pitchFamily="49" charset="0"/>
              </a:rPr>
              <a:t>L</a:t>
            </a:r>
            <a:r>
              <a:rPr lang="en-US" altLang="en-US" sz="2400" smtClean="0"/>
              <a:t>’ at the end of the number:   </a:t>
            </a:r>
            <a:r>
              <a:rPr lang="en-US" altLang="en-US" sz="2400" smtClean="0">
                <a:latin typeface="Courier New" panose="02070309020205020404" pitchFamily="49" charset="0"/>
              </a:rPr>
              <a:t>1234L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en-US" altLang="en-US" sz="800" smtClean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smtClean="0"/>
              <a:t>To store an integer constant in a long long memory location, put ‘</a:t>
            </a:r>
            <a:r>
              <a:rPr lang="en-US" altLang="en-US" sz="2400" smtClean="0">
                <a:latin typeface="Courier New" panose="02070309020205020404" pitchFamily="49" charset="0"/>
              </a:rPr>
              <a:t>LL</a:t>
            </a:r>
            <a:r>
              <a:rPr lang="en-US" altLang="en-US" sz="2400" smtClean="0"/>
              <a:t>’ at the end of the number:   </a:t>
            </a:r>
            <a:r>
              <a:rPr lang="en-US" altLang="en-US" sz="2400" smtClean="0">
                <a:latin typeface="Courier New" panose="02070309020205020404" pitchFamily="49" charset="0"/>
              </a:rPr>
              <a:t>324LL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en-US" altLang="en-US" sz="800" smtClean="0"/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smtClean="0"/>
              <a:t>Constants that begin with ‘</a:t>
            </a:r>
            <a:r>
              <a:rPr lang="en-US" altLang="en-US" sz="2400" smtClean="0">
                <a:latin typeface="Courier New" panose="02070309020205020404" pitchFamily="49" charset="0"/>
              </a:rPr>
              <a:t>0</a:t>
            </a:r>
            <a:r>
              <a:rPr lang="en-US" altLang="en-US" sz="2400" smtClean="0"/>
              <a:t>’ (zero) are base 8:   </a:t>
            </a:r>
            <a:r>
              <a:rPr lang="en-US" altLang="en-US" sz="2400" smtClean="0">
                <a:latin typeface="Courier New" panose="02070309020205020404" pitchFamily="49" charset="0"/>
              </a:rPr>
              <a:t>075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en-US" altLang="en-US" sz="800" smtClean="0"/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smtClean="0"/>
              <a:t>Constants that begin with ‘</a:t>
            </a:r>
            <a:r>
              <a:rPr lang="en-US" altLang="en-US" sz="2400" smtClean="0">
                <a:latin typeface="Courier New" panose="02070309020205020404" pitchFamily="49" charset="0"/>
              </a:rPr>
              <a:t>0x</a:t>
            </a:r>
            <a:r>
              <a:rPr lang="en-US" altLang="en-US" sz="2400" smtClean="0"/>
              <a:t>’ are base 16:    </a:t>
            </a:r>
            <a:r>
              <a:rPr lang="en-US" altLang="en-US" sz="2400" smtClean="0">
                <a:latin typeface="Courier New" panose="02070309020205020404" pitchFamily="49" charset="0"/>
              </a:rPr>
              <a:t>0x75A</a:t>
            </a:r>
            <a:endParaRPr lang="en-US" altLang="en-US" sz="2400" smtClean="0"/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2.7</a:t>
            </a:r>
          </a:p>
        </p:txBody>
      </p:sp>
      <p:sp>
        <p:nvSpPr>
          <p:cNvPr id="3891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smtClean="0"/>
              <a:t> Data Type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smtClean="0"/>
              <a:t> Data Type</a:t>
            </a:r>
          </a:p>
        </p:txBody>
      </p:sp>
      <p:sp>
        <p:nvSpPr>
          <p:cNvPr id="399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to hold characters or very small integer values</a:t>
            </a:r>
          </a:p>
          <a:p>
            <a:r>
              <a:rPr lang="en-US" altLang="en-US" smtClean="0"/>
              <a:t>Usually 1 byte of memory</a:t>
            </a:r>
          </a:p>
          <a:p>
            <a:r>
              <a:rPr lang="en-US" altLang="en-US" smtClean="0"/>
              <a:t>Numeric value of character from the character set is stored in memory: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990600" y="4648200"/>
            <a:ext cx="2590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char letter;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letter = 'C';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4897438" y="4648200"/>
            <a:ext cx="16398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MEMORY: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letter</a:t>
            </a: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5029200" y="5334000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Character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Character literals must be enclosed in single quote marks. Example: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                       </a:t>
            </a:r>
            <a:r>
              <a:rPr lang="en-US" altLang="en-US" dirty="0">
                <a:latin typeface="Courier New" pitchFamily="-16" charset="0"/>
              </a:rPr>
              <a:t>'A'</a:t>
            </a:r>
          </a:p>
          <a:p>
            <a:pPr marL="0" indent="0">
              <a:buFontTx/>
              <a:buNone/>
              <a:defRPr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Character Literals in Program 2-14</a:t>
            </a:r>
          </a:p>
        </p:txBody>
      </p:sp>
      <p:pic>
        <p:nvPicPr>
          <p:cNvPr id="4198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1371600"/>
            <a:ext cx="80295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Character Strings</a:t>
            </a:r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smtClean="0"/>
              <a:t>A series of characters in consecutive memory locations: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	</a:t>
            </a:r>
            <a:r>
              <a:rPr lang="en-US" altLang="en-US" sz="2400" smtClean="0">
                <a:latin typeface="Courier New" panose="02070309020205020404" pitchFamily="49" charset="0"/>
              </a:rPr>
              <a:t>"Hello"</a:t>
            </a:r>
            <a:endParaRPr lang="en-US" altLang="en-US" sz="2400" smtClean="0"/>
          </a:p>
          <a:p>
            <a:pPr>
              <a:lnSpc>
                <a:spcPct val="90000"/>
              </a:lnSpc>
            </a:pPr>
            <a:r>
              <a:rPr lang="en-US" altLang="en-US" sz="2800" smtClean="0"/>
              <a:t>Stored with the </a:t>
            </a:r>
            <a:r>
              <a:rPr lang="en-US" altLang="en-US" sz="2800" u="sng" smtClean="0"/>
              <a:t>null terminator</a:t>
            </a:r>
            <a:r>
              <a:rPr lang="en-US" altLang="en-US" sz="2800" smtClean="0"/>
              <a:t>, </a:t>
            </a:r>
            <a:r>
              <a:rPr lang="en-US" altLang="en-US" sz="2800" b="1" smtClean="0">
                <a:solidFill>
                  <a:srgbClr val="FA8218"/>
                </a:solidFill>
                <a:latin typeface="Courier New" panose="02070309020205020404" pitchFamily="49" charset="0"/>
              </a:rPr>
              <a:t>\0</a:t>
            </a:r>
            <a:r>
              <a:rPr lang="en-US" altLang="en-US" sz="2800" smtClean="0"/>
              <a:t>, at the end: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	</a:t>
            </a:r>
          </a:p>
          <a:p>
            <a:pPr>
              <a:lnSpc>
                <a:spcPct val="90000"/>
              </a:lnSpc>
            </a:pPr>
            <a:r>
              <a:rPr lang="en-US" altLang="en-US" sz="2800" smtClean="0"/>
              <a:t>Comprised of the characters between the </a:t>
            </a:r>
            <a:r>
              <a:rPr lang="en-US" altLang="en-US" sz="2800" smtClean="0">
                <a:latin typeface="Courier New" panose="02070309020205020404" pitchFamily="49" charset="0"/>
              </a:rPr>
              <a:t>" "</a:t>
            </a:r>
            <a:endParaRPr lang="en-US" altLang="en-US" sz="2800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/>
        </p:nvGraphicFramePr>
        <p:xfrm>
          <a:off x="1981200" y="4724400"/>
          <a:ext cx="4495800" cy="53340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A8218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2.8</a:t>
            </a:r>
          </a:p>
        </p:txBody>
      </p:sp>
      <p:sp>
        <p:nvSpPr>
          <p:cNvPr id="4403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The C++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mtClean="0"/>
              <a:t> Class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C++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mtClean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en-US" altLang="en-US" sz="2800" dirty="0"/>
              <a:t>Special data type supports working with strings</a:t>
            </a:r>
          </a:p>
          <a:p>
            <a:pPr marL="0" indent="0">
              <a:lnSpc>
                <a:spcPct val="85000"/>
              </a:lnSpc>
              <a:buFontTx/>
              <a:buNone/>
              <a:defRPr/>
            </a:pPr>
            <a:r>
              <a:rPr lang="en-US" altLang="en-US" sz="2800" dirty="0"/>
              <a:t>	</a:t>
            </a:r>
            <a:r>
              <a:rPr lang="en-US" altLang="en-US" sz="2800" dirty="0">
                <a:latin typeface="Courier New" pitchFamily="-16" charset="0"/>
              </a:rPr>
              <a:t>#include &lt;string&gt;</a:t>
            </a:r>
          </a:p>
          <a:p>
            <a:pPr>
              <a:lnSpc>
                <a:spcPct val="85000"/>
              </a:lnSpc>
              <a:defRPr/>
            </a:pPr>
            <a:r>
              <a:rPr lang="en-US" altLang="en-US" sz="2800" dirty="0"/>
              <a:t>Can define </a:t>
            </a:r>
            <a:r>
              <a:rPr lang="en-US" altLang="en-US" sz="2800" dirty="0">
                <a:latin typeface="Courier New" pitchFamily="-16" charset="0"/>
              </a:rPr>
              <a:t>string</a:t>
            </a:r>
            <a:r>
              <a:rPr lang="en-US" altLang="en-US" sz="2800" dirty="0"/>
              <a:t> variables in programs: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r>
              <a:rPr lang="en-US" altLang="en-US" sz="2400" dirty="0">
                <a:latin typeface="Courier New" pitchFamily="-16" charset="0"/>
              </a:rPr>
              <a:t>	string </a:t>
            </a:r>
            <a:r>
              <a:rPr lang="en-US" altLang="en-US" sz="2400" dirty="0" err="1">
                <a:latin typeface="Courier New" pitchFamily="-16" charset="0"/>
              </a:rPr>
              <a:t>firstName</a:t>
            </a:r>
            <a:r>
              <a:rPr lang="en-US" altLang="en-US" sz="2400" dirty="0">
                <a:latin typeface="Courier New" pitchFamily="-16" charset="0"/>
              </a:rPr>
              <a:t>, </a:t>
            </a:r>
            <a:r>
              <a:rPr lang="en-US" altLang="en-US" sz="2400" dirty="0" err="1">
                <a:latin typeface="Courier New" pitchFamily="-16" charset="0"/>
              </a:rPr>
              <a:t>lastName</a:t>
            </a:r>
            <a:r>
              <a:rPr lang="en-US" altLang="en-US" sz="2400" dirty="0">
                <a:latin typeface="Courier New" pitchFamily="-16" charset="0"/>
              </a:rPr>
              <a:t>;</a:t>
            </a:r>
          </a:p>
          <a:p>
            <a:pPr>
              <a:lnSpc>
                <a:spcPct val="85000"/>
              </a:lnSpc>
              <a:defRPr/>
            </a:pPr>
            <a:r>
              <a:rPr lang="en-US" altLang="en-US" sz="2800" dirty="0"/>
              <a:t>Can receive values with assignment operator: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r>
              <a:rPr lang="en-US" altLang="en-US" sz="2400" dirty="0">
                <a:latin typeface="Courier New" pitchFamily="-16" charset="0"/>
              </a:rPr>
              <a:t>	</a:t>
            </a:r>
            <a:r>
              <a:rPr lang="en-US" altLang="en-US" sz="2400" dirty="0" err="1">
                <a:latin typeface="Courier New" pitchFamily="-16" charset="0"/>
              </a:rPr>
              <a:t>firstName</a:t>
            </a:r>
            <a:r>
              <a:rPr lang="en-US" altLang="en-US" sz="2400" dirty="0">
                <a:latin typeface="Courier New" pitchFamily="-16" charset="0"/>
              </a:rPr>
              <a:t> = "George";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r>
              <a:rPr lang="en-US" altLang="en-US" sz="2400" dirty="0">
                <a:latin typeface="Courier New" pitchFamily="-16" charset="0"/>
              </a:rPr>
              <a:t>	</a:t>
            </a:r>
            <a:r>
              <a:rPr lang="en-US" altLang="en-US" sz="2400" dirty="0" err="1">
                <a:latin typeface="Courier New" pitchFamily="-16" charset="0"/>
              </a:rPr>
              <a:t>lastName</a:t>
            </a:r>
            <a:r>
              <a:rPr lang="en-US" altLang="en-US" sz="2400" dirty="0">
                <a:latin typeface="Courier New" pitchFamily="-16" charset="0"/>
              </a:rPr>
              <a:t> = "Washington";</a:t>
            </a:r>
          </a:p>
          <a:p>
            <a:pPr>
              <a:lnSpc>
                <a:spcPct val="85000"/>
              </a:lnSpc>
              <a:defRPr/>
            </a:pPr>
            <a:r>
              <a:rPr lang="en-US" altLang="en-US" sz="2800" dirty="0"/>
              <a:t>Can be displayed via </a:t>
            </a:r>
            <a:r>
              <a:rPr lang="en-US" altLang="en-US" sz="2800" dirty="0">
                <a:latin typeface="Courier New" pitchFamily="-16" charset="0"/>
              </a:rPr>
              <a:t>cout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r>
              <a:rPr lang="en-US" altLang="en-US" sz="2400" dirty="0">
                <a:latin typeface="Courier New" pitchFamily="-16" charset="0"/>
              </a:rPr>
              <a:t>	cout &lt;&lt; </a:t>
            </a:r>
            <a:r>
              <a:rPr lang="en-US" altLang="en-US" sz="2400" dirty="0" err="1">
                <a:latin typeface="Courier New" pitchFamily="-16" charset="0"/>
              </a:rPr>
              <a:t>firstName</a:t>
            </a:r>
            <a:r>
              <a:rPr lang="en-US" altLang="en-US" sz="2400" dirty="0">
                <a:latin typeface="Courier New" pitchFamily="-16" charset="0"/>
              </a:rPr>
              <a:t> &lt;&lt; " " &lt;&lt; </a:t>
            </a:r>
            <a:r>
              <a:rPr lang="en-US" altLang="en-US" sz="2400" dirty="0" err="1">
                <a:latin typeface="Courier New" pitchFamily="-16" charset="0"/>
              </a:rPr>
              <a:t>lastName</a:t>
            </a:r>
            <a:r>
              <a:rPr lang="en-US" altLang="en-US" sz="2400" dirty="0">
                <a:latin typeface="Courier New" pitchFamily="-16" charset="0"/>
              </a:rPr>
              <a:t>;</a:t>
            </a:r>
            <a:endParaRPr lang="en-US" altLang="en-US" sz="2400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The </a:t>
            </a:r>
            <a:r>
              <a:rPr lang="en-US" altLang="en-US" sz="400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z="4000" smtClean="0"/>
              <a:t> class in Program 2-15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780338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2.9</a:t>
            </a:r>
          </a:p>
        </p:txBody>
      </p:sp>
      <p:sp>
        <p:nvSpPr>
          <p:cNvPr id="4710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Floating-Point Data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Floating-Point Data Types</a:t>
            </a:r>
          </a:p>
        </p:txBody>
      </p:sp>
      <p:sp>
        <p:nvSpPr>
          <p:cNvPr id="481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smtClean="0"/>
              <a:t>The floating-point data types are:</a:t>
            </a:r>
            <a:br>
              <a:rPr lang="en-US" altLang="en-US" sz="2400" smtClean="0"/>
            </a:br>
            <a:r>
              <a:rPr lang="en-US" altLang="en-US" sz="2400" b="1" smtClean="0">
                <a:solidFill>
                  <a:srgbClr val="FA8218"/>
                </a:solidFill>
                <a:latin typeface="Courier New" panose="02070309020205020404" pitchFamily="49" charset="0"/>
              </a:rPr>
              <a:t>float</a:t>
            </a:r>
            <a:br>
              <a:rPr lang="en-US" altLang="en-US" sz="2400" b="1" smtClean="0">
                <a:solidFill>
                  <a:srgbClr val="FA8218"/>
                </a:solidFill>
                <a:latin typeface="Courier New" panose="02070309020205020404" pitchFamily="49" charset="0"/>
              </a:rPr>
            </a:br>
            <a:r>
              <a:rPr lang="en-US" altLang="en-US" sz="2400" b="1" smtClean="0">
                <a:solidFill>
                  <a:srgbClr val="FA8218"/>
                </a:solidFill>
                <a:latin typeface="Courier New" panose="02070309020205020404" pitchFamily="49" charset="0"/>
              </a:rPr>
              <a:t>double</a:t>
            </a:r>
            <a:br>
              <a:rPr lang="en-US" altLang="en-US" sz="2400" b="1" smtClean="0">
                <a:solidFill>
                  <a:srgbClr val="FA8218"/>
                </a:solidFill>
                <a:latin typeface="Courier New" panose="02070309020205020404" pitchFamily="49" charset="0"/>
              </a:rPr>
            </a:br>
            <a:r>
              <a:rPr lang="en-US" altLang="en-US" sz="2400" b="1" smtClean="0">
                <a:solidFill>
                  <a:srgbClr val="FA8218"/>
                </a:solidFill>
                <a:latin typeface="Courier New" panose="02070309020205020404" pitchFamily="49" charset="0"/>
              </a:rPr>
              <a:t>long double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>
              <a:lnSpc>
                <a:spcPct val="80000"/>
              </a:lnSpc>
            </a:pPr>
            <a:r>
              <a:rPr lang="en-US" altLang="en-US" sz="2400" smtClean="0"/>
              <a:t>They can hold real numbers such as: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	</a:t>
            </a:r>
            <a:r>
              <a:rPr lang="en-US" altLang="en-US" sz="2000" smtClean="0">
                <a:latin typeface="Courier New" panose="02070309020205020404" pitchFamily="49" charset="0"/>
              </a:rPr>
              <a:t>12.45      -3.8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endParaRPr lang="en-US" altLang="en-US" sz="2000" smtClean="0"/>
          </a:p>
          <a:p>
            <a:pPr>
              <a:lnSpc>
                <a:spcPct val="80000"/>
              </a:lnSpc>
            </a:pPr>
            <a:r>
              <a:rPr lang="en-US" altLang="en-US" sz="2400" smtClean="0"/>
              <a:t>Stored in a form similar to scientific notation</a:t>
            </a:r>
            <a:br>
              <a:rPr lang="en-US" altLang="en-US" sz="2400" smtClean="0"/>
            </a:br>
            <a:endParaRPr lang="en-US" altLang="en-US" sz="2400" smtClean="0"/>
          </a:p>
          <a:p>
            <a:pPr>
              <a:lnSpc>
                <a:spcPct val="80000"/>
              </a:lnSpc>
            </a:pPr>
            <a:r>
              <a:rPr lang="en-US" altLang="en-US" sz="2400" smtClean="0"/>
              <a:t>All floating-point numbers are signed</a:t>
            </a:r>
            <a:endParaRPr lang="en-US" altLang="en-US" sz="2400" smtClean="0">
              <a:latin typeface="Courier New" panose="02070309020205020404" pitchFamily="49" charset="0"/>
            </a:endParaRP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Floating-Point Data Types</a:t>
            </a: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2362200"/>
            <a:ext cx="8499475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Floating-Point Literals</a:t>
            </a:r>
          </a:p>
        </p:txBody>
      </p:sp>
      <p:sp>
        <p:nvSpPr>
          <p:cNvPr id="501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Can be represented in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Fixed point (decimal) notation: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31.4159			0.0000625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 notation: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3.14159E1			6.25e-5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Are </a:t>
            </a:r>
            <a:r>
              <a:rPr lang="en-US" altLang="en-US" smtClean="0">
                <a:latin typeface="Courier New" panose="02070309020205020404" pitchFamily="49" charset="0"/>
              </a:rPr>
              <a:t>double</a:t>
            </a:r>
            <a:r>
              <a:rPr lang="en-US" altLang="en-US" smtClean="0"/>
              <a:t> by default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Can be forced to be float (</a:t>
            </a:r>
            <a:r>
              <a:rPr lang="en-US" altLang="en-US" smtClean="0">
                <a:latin typeface="Courier New" panose="02070309020205020404" pitchFamily="49" charset="0"/>
              </a:rPr>
              <a:t>3.14159f</a:t>
            </a:r>
            <a:r>
              <a:rPr lang="en-US" altLang="en-US" smtClean="0"/>
              <a:t>) or long double (</a:t>
            </a:r>
            <a:r>
              <a:rPr lang="en-US" altLang="en-US" smtClean="0">
                <a:latin typeface="Courier New" panose="02070309020205020404" pitchFamily="49" charset="0"/>
              </a:rPr>
              <a:t>0.0000625L</a:t>
            </a:r>
            <a:r>
              <a:rPr lang="en-US" altLang="en-US" smtClean="0"/>
              <a:t>)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/>
              <a:t>Floating-Point Data Types in Program 2-16</a:t>
            </a:r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66825"/>
            <a:ext cx="7194550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2.10</a:t>
            </a:r>
          </a:p>
        </p:txBody>
      </p:sp>
      <p:sp>
        <p:nvSpPr>
          <p:cNvPr id="5222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en-US" smtClean="0"/>
              <a:t> Data Type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en-US" smtClean="0"/>
              <a:t> Data Type</a:t>
            </a:r>
          </a:p>
        </p:txBody>
      </p:sp>
      <p:sp>
        <p:nvSpPr>
          <p:cNvPr id="5325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mtClean="0"/>
              <a:t>Represents values that are </a:t>
            </a:r>
            <a:r>
              <a:rPr lang="en-US" altLang="en-US" smtClean="0">
                <a:latin typeface="Courier New" panose="02070309020205020404" pitchFamily="49" charset="0"/>
              </a:rPr>
              <a:t>true</a:t>
            </a:r>
            <a:r>
              <a:rPr lang="en-US" altLang="en-US" smtClean="0"/>
              <a:t> or </a:t>
            </a:r>
            <a:r>
              <a:rPr lang="en-US" altLang="en-US" smtClean="0">
                <a:latin typeface="Courier New" panose="02070309020205020404" pitchFamily="49" charset="0"/>
              </a:rPr>
              <a:t>false</a:t>
            </a:r>
          </a:p>
          <a:p>
            <a:pPr>
              <a:spcBef>
                <a:spcPct val="50000"/>
              </a:spcBef>
            </a:pPr>
            <a:r>
              <a:rPr lang="en-US" altLang="en-US" smtClean="0">
                <a:latin typeface="Courier New" panose="02070309020205020404" pitchFamily="49" charset="0"/>
              </a:rPr>
              <a:t>bool</a:t>
            </a:r>
            <a:r>
              <a:rPr lang="en-US" altLang="en-US" smtClean="0"/>
              <a:t> variables are stored as small integers</a:t>
            </a:r>
            <a:endParaRPr lang="en-US" altLang="en-US" smtClean="0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en-US" smtClean="0">
                <a:latin typeface="Courier New" panose="02070309020205020404" pitchFamily="49" charset="0"/>
              </a:rPr>
              <a:t>false </a:t>
            </a:r>
            <a:r>
              <a:rPr lang="en-US" altLang="en-US" smtClean="0"/>
              <a:t>is represented by 0, </a:t>
            </a:r>
            <a:r>
              <a:rPr lang="en-US" altLang="en-US" smtClean="0">
                <a:latin typeface="Courier New" panose="02070309020205020404" pitchFamily="49" charset="0"/>
              </a:rPr>
              <a:t>true</a:t>
            </a:r>
            <a:r>
              <a:rPr lang="en-US" altLang="en-US" smtClean="0"/>
              <a:t> by 1:</a:t>
            </a:r>
          </a:p>
          <a:p>
            <a:pPr lvl="1">
              <a:spcBef>
                <a:spcPct val="50000"/>
              </a:spcBef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bool allDone = true;</a:t>
            </a:r>
          </a:p>
          <a:p>
            <a:pPr lvl="1">
              <a:spcBef>
                <a:spcPct val="50000"/>
              </a:spcBef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bool finished = false;</a:t>
            </a:r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6248400" y="5181600"/>
            <a:ext cx="8382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6019800" y="4876800"/>
            <a:ext cx="1250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allDone</a:t>
            </a:r>
          </a:p>
        </p:txBody>
      </p:sp>
      <p:sp>
        <p:nvSpPr>
          <p:cNvPr id="53254" name="Rectangle 8"/>
          <p:cNvSpPr>
            <a:spLocks noChangeArrowheads="1"/>
          </p:cNvSpPr>
          <p:nvPr/>
        </p:nvSpPr>
        <p:spPr bwMode="auto">
          <a:xfrm>
            <a:off x="7620000" y="5181600"/>
            <a:ext cx="762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3255" name="Text Box 10"/>
          <p:cNvSpPr txBox="1">
            <a:spLocks noChangeArrowheads="1"/>
          </p:cNvSpPr>
          <p:nvPr/>
        </p:nvSpPr>
        <p:spPr bwMode="auto">
          <a:xfrm>
            <a:off x="7315200" y="4876800"/>
            <a:ext cx="1403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finished</a:t>
            </a:r>
          </a:p>
        </p:txBody>
      </p:sp>
      <p:sp>
        <p:nvSpPr>
          <p:cNvPr id="53256" name="Text Box 6"/>
          <p:cNvSpPr txBox="1">
            <a:spLocks noChangeArrowheads="1"/>
          </p:cNvSpPr>
          <p:nvPr/>
        </p:nvSpPr>
        <p:spPr bwMode="auto">
          <a:xfrm>
            <a:off x="6477000" y="5410200"/>
            <a:ext cx="36671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7848600" y="5410200"/>
            <a:ext cx="36671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Boolean Variables in Program 2-17</a:t>
            </a: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219200"/>
            <a:ext cx="63373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2.11</a:t>
            </a:r>
          </a:p>
        </p:txBody>
      </p:sp>
      <p:sp>
        <p:nvSpPr>
          <p:cNvPr id="55299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Determining the Size of a Data Type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Determining the Size of a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The </a:t>
            </a:r>
            <a:r>
              <a:rPr lang="en-US" sz="2800" dirty="0" err="1">
                <a:latin typeface="Courier New" pitchFamily="-16" charset="0"/>
              </a:rPr>
              <a:t>sizeof</a:t>
            </a:r>
            <a:r>
              <a:rPr lang="en-US" sz="2800" dirty="0"/>
              <a:t> operator gives the size of any data type or variable</a:t>
            </a:r>
            <a:r>
              <a:rPr lang="en-US" sz="2400" dirty="0"/>
              <a:t>:</a:t>
            </a:r>
          </a:p>
          <a:p>
            <a:pPr>
              <a:defRPr/>
            </a:pPr>
            <a:endParaRPr lang="en-US" sz="2400" dirty="0"/>
          </a:p>
          <a:p>
            <a:pPr>
              <a:buFont typeface="Times" pitchFamily="-16" charset="0"/>
              <a:buNone/>
              <a:defRPr/>
            </a:pPr>
            <a:r>
              <a:rPr lang="en-US" sz="2400" dirty="0"/>
              <a:t>	</a:t>
            </a:r>
            <a:r>
              <a:rPr lang="en-US" sz="2400" dirty="0">
                <a:latin typeface="Courier New" pitchFamily="-16" charset="0"/>
              </a:rPr>
              <a:t>double amount;</a:t>
            </a:r>
            <a:endParaRPr lang="en-US" sz="2400" dirty="0"/>
          </a:p>
          <a:p>
            <a:pPr>
              <a:buFont typeface="Times" pitchFamily="-16" charset="0"/>
              <a:buNone/>
              <a:defRPr/>
            </a:pPr>
            <a:r>
              <a:rPr lang="en-US" sz="2400" dirty="0">
                <a:latin typeface="Courier New" pitchFamily="-16" charset="0"/>
              </a:rPr>
              <a:t>	cout &lt;&lt; "A double is stored in "</a:t>
            </a:r>
          </a:p>
          <a:p>
            <a:pPr>
              <a:buFont typeface="Times" pitchFamily="-16" charset="0"/>
              <a:buNone/>
              <a:defRPr/>
            </a:pPr>
            <a:r>
              <a:rPr lang="en-US" sz="2400" dirty="0"/>
              <a:t>  </a:t>
            </a:r>
            <a:r>
              <a:rPr lang="en-US" sz="2400" dirty="0">
                <a:latin typeface="Courier New" pitchFamily="-16" charset="0"/>
              </a:rPr>
              <a:t>		  &lt;&lt; </a:t>
            </a:r>
            <a:r>
              <a:rPr lang="en-US" sz="2400" dirty="0" err="1">
                <a:latin typeface="Courier New" pitchFamily="-16" charset="0"/>
              </a:rPr>
              <a:t>sizeof</a:t>
            </a:r>
            <a:r>
              <a:rPr lang="en-US" sz="2400" dirty="0">
                <a:latin typeface="Courier New" pitchFamily="-16" charset="0"/>
              </a:rPr>
              <a:t>(double) &lt;&lt; "bytes\n";</a:t>
            </a:r>
          </a:p>
          <a:p>
            <a:pPr>
              <a:buFont typeface="Times" pitchFamily="-16" charset="0"/>
              <a:buNone/>
              <a:defRPr/>
            </a:pPr>
            <a:r>
              <a:rPr lang="en-US" sz="2400" dirty="0">
                <a:latin typeface="Courier New" pitchFamily="-16" charset="0"/>
              </a:rPr>
              <a:t>	cout &lt;&lt; "Variable amount is stored in "</a:t>
            </a:r>
          </a:p>
          <a:p>
            <a:pPr>
              <a:buFont typeface="Times" pitchFamily="-16" charset="0"/>
              <a:buNone/>
              <a:defRPr/>
            </a:pPr>
            <a:r>
              <a:rPr lang="en-US" sz="2400" dirty="0"/>
              <a:t>  </a:t>
            </a:r>
            <a:r>
              <a:rPr lang="en-US" sz="2400" dirty="0">
                <a:latin typeface="Courier New" pitchFamily="-16" charset="0"/>
              </a:rPr>
              <a:t>		  &lt;&lt; </a:t>
            </a:r>
            <a:r>
              <a:rPr lang="en-US" sz="2400" dirty="0" err="1">
                <a:latin typeface="Courier New" pitchFamily="-16" charset="0"/>
              </a:rPr>
              <a:t>sizeof</a:t>
            </a:r>
            <a:r>
              <a:rPr lang="en-US" sz="2400" dirty="0">
                <a:latin typeface="Courier New" pitchFamily="-16" charset="0"/>
              </a:rPr>
              <a:t>(amount) </a:t>
            </a:r>
          </a:p>
          <a:p>
            <a:pPr>
              <a:buFont typeface="Times" pitchFamily="-16" charset="0"/>
              <a:buNone/>
              <a:defRPr/>
            </a:pPr>
            <a:r>
              <a:rPr lang="en-US" sz="2400" dirty="0">
                <a:latin typeface="Courier New" pitchFamily="-16" charset="0"/>
              </a:rPr>
              <a:t>      </a:t>
            </a:r>
            <a:r>
              <a:rPr lang="en-US" sz="2400" dirty="0"/>
              <a:t> </a:t>
            </a:r>
            <a:r>
              <a:rPr lang="en-US" sz="2400" dirty="0">
                <a:latin typeface="Courier New" pitchFamily="-16" charset="0"/>
              </a:rPr>
              <a:t>&lt;&lt; "bytes\n";</a:t>
            </a:r>
          </a:p>
          <a:p>
            <a:pPr marL="0" indent="0">
              <a:buFontTx/>
              <a:buNone/>
              <a:defRPr/>
            </a:pP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2.12</a:t>
            </a:r>
          </a:p>
        </p:txBody>
      </p:sp>
      <p:sp>
        <p:nvSpPr>
          <p:cNvPr id="5734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Variable Assignments and Initialization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Variable Assignments and Initialization</a:t>
            </a:r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An assignment statement uses the </a:t>
            </a:r>
            <a:r>
              <a:rPr lang="en-US" altLang="en-US" smtClean="0">
                <a:latin typeface="Courier New" panose="02070309020205020404" pitchFamily="49" charset="0"/>
              </a:rPr>
              <a:t>=</a:t>
            </a:r>
            <a:r>
              <a:rPr lang="en-US" altLang="en-US" smtClean="0"/>
              <a:t> operator to store a value in a variable.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>
                <a:latin typeface="Courier New" panose="02070309020205020404" pitchFamily="49" charset="0"/>
              </a:rPr>
              <a:t>item = 12;</a:t>
            </a:r>
          </a:p>
          <a:p>
            <a:pPr>
              <a:lnSpc>
                <a:spcPct val="90000"/>
              </a:lnSpc>
            </a:pPr>
            <a:endParaRPr lang="en-US" altLang="en-US" smtClean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mtClean="0"/>
              <a:t>This statement assigns the value 12 to the </a:t>
            </a:r>
            <a:r>
              <a:rPr lang="en-US" altLang="en-US" smtClean="0">
                <a:latin typeface="Courier New" panose="02070309020205020404" pitchFamily="49" charset="0"/>
              </a:rPr>
              <a:t>item</a:t>
            </a:r>
            <a:r>
              <a:rPr lang="en-US" altLang="en-US" smtClean="0"/>
              <a:t> variable.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Assignment</a:t>
            </a:r>
          </a:p>
        </p:txBody>
      </p:sp>
      <p:sp>
        <p:nvSpPr>
          <p:cNvPr id="593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variable receiving the value must appear on the left side of the = operator.</a:t>
            </a:r>
          </a:p>
          <a:p>
            <a:r>
              <a:rPr lang="en-US" altLang="en-US" smtClean="0"/>
              <a:t>This will NOT work: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  </a:t>
            </a:r>
            <a:r>
              <a:rPr lang="en-US" altLang="en-US" smtClean="0">
                <a:latin typeface="Courier New" panose="02070309020205020404" pitchFamily="49" charset="0"/>
              </a:rPr>
              <a:t>// ERROR!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en-US" altLang="en-US" smtClean="0">
                <a:latin typeface="Courier New" panose="02070309020205020404" pitchFamily="49" charset="0"/>
              </a:rPr>
              <a:t> 12 = item;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Variable Initialization</a:t>
            </a:r>
          </a:p>
        </p:txBody>
      </p:sp>
      <p:sp>
        <p:nvSpPr>
          <p:cNvPr id="604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To initialize a variable means to assign it a value when it is defined:</a:t>
            </a:r>
            <a:br>
              <a:rPr lang="en-US" altLang="en-US" smtClean="0"/>
            </a:br>
            <a:endParaRPr lang="en-US" altLang="en-US" smtClean="0"/>
          </a:p>
          <a:p>
            <a:pPr lvl="1"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int length = 12;</a:t>
            </a:r>
            <a:br>
              <a:rPr lang="en-US" altLang="en-US" smtClean="0">
                <a:latin typeface="Courier New" panose="02070309020205020404" pitchFamily="49" charset="0"/>
              </a:rPr>
            </a:br>
            <a:endParaRPr lang="en-US" altLang="en-US" smtClean="0"/>
          </a:p>
          <a:p>
            <a:r>
              <a:rPr lang="en-US" altLang="en-US" smtClean="0"/>
              <a:t>Can initialize some or all variables: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int length = 12, width = 5, area;</a:t>
            </a:r>
            <a:endParaRPr lang="en-US" altLang="en-US" u="sng" smtClean="0"/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Variable Initialization in Program 2-19</a:t>
            </a:r>
          </a:p>
        </p:txBody>
      </p:sp>
      <p:pic>
        <p:nvPicPr>
          <p:cNvPr id="614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600200"/>
            <a:ext cx="78676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Declaring Variables With the </a:t>
            </a:r>
            <a:r>
              <a:rPr lang="en-US" altLang="en-US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en-US" sz="2800" smtClean="0"/>
              <a:t> Key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C++ 11 introduces an alternative way to define variables, using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sz="2400" dirty="0"/>
              <a:t> key word and an initialization value. Here is an example: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auto amount = 100;</a:t>
            </a:r>
          </a:p>
          <a:p>
            <a:pPr>
              <a:defRPr/>
            </a:pPr>
            <a:r>
              <a:rPr lang="en-US" sz="2400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sz="2400" dirty="0"/>
              <a:t> key word tells the compiler to determine the variable’s data type from the initialization value.</a:t>
            </a:r>
          </a:p>
          <a:p>
            <a:pPr>
              <a:defRPr/>
            </a:pPr>
            <a:endParaRPr lang="en-US" sz="2400" dirty="0"/>
          </a:p>
          <a:p>
            <a:pPr marL="0" indent="0">
              <a:buFontTx/>
              <a:buNone/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auto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interestRate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12.0;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auto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stockCode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400" dirty="0">
                <a:latin typeface="Courier New" pitchFamily="-16" charset="0"/>
              </a:rPr>
              <a:t>'D'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auto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customerNum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459L;</a:t>
            </a:r>
          </a:p>
          <a:p>
            <a:pPr>
              <a:defRPr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6400800" y="2971800"/>
            <a:ext cx="244475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</p:txBody>
      </p:sp>
      <p:sp>
        <p:nvSpPr>
          <p:cNvPr id="62469" name="Line 5"/>
          <p:cNvSpPr>
            <a:spLocks noChangeShapeType="1"/>
          </p:cNvSpPr>
          <p:nvPr/>
        </p:nvSpPr>
        <p:spPr bwMode="auto">
          <a:xfrm flipH="1">
            <a:off x="5334000" y="3124200"/>
            <a:ext cx="108585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2470" name="Text Box 4"/>
          <p:cNvSpPr txBox="1">
            <a:spLocks noChangeArrowheads="1"/>
          </p:cNvSpPr>
          <p:nvPr/>
        </p:nvSpPr>
        <p:spPr bwMode="auto">
          <a:xfrm>
            <a:off x="6934200" y="4648200"/>
            <a:ext cx="24447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</p:txBody>
      </p:sp>
      <p:sp>
        <p:nvSpPr>
          <p:cNvPr id="62471" name="Line 5"/>
          <p:cNvSpPr>
            <a:spLocks noChangeShapeType="1"/>
          </p:cNvSpPr>
          <p:nvPr/>
        </p:nvSpPr>
        <p:spPr bwMode="auto">
          <a:xfrm flipH="1">
            <a:off x="5867400" y="4800600"/>
            <a:ext cx="108585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2472" name="Text Box 4"/>
          <p:cNvSpPr txBox="1">
            <a:spLocks noChangeArrowheads="1"/>
          </p:cNvSpPr>
          <p:nvPr/>
        </p:nvSpPr>
        <p:spPr bwMode="auto">
          <a:xfrm>
            <a:off x="6934200" y="5105400"/>
            <a:ext cx="24447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</p:txBody>
      </p:sp>
      <p:sp>
        <p:nvSpPr>
          <p:cNvPr id="62473" name="Line 5"/>
          <p:cNvSpPr>
            <a:spLocks noChangeShapeType="1"/>
          </p:cNvSpPr>
          <p:nvPr/>
        </p:nvSpPr>
        <p:spPr bwMode="auto">
          <a:xfrm flipH="1">
            <a:off x="5334000" y="5257800"/>
            <a:ext cx="161925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2474" name="Text Box 4"/>
          <p:cNvSpPr txBox="1">
            <a:spLocks noChangeArrowheads="1"/>
          </p:cNvSpPr>
          <p:nvPr/>
        </p:nvSpPr>
        <p:spPr bwMode="auto">
          <a:xfrm>
            <a:off x="6953250" y="5511800"/>
            <a:ext cx="24447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</a:p>
        </p:txBody>
      </p:sp>
      <p:sp>
        <p:nvSpPr>
          <p:cNvPr id="62475" name="Line 5"/>
          <p:cNvSpPr>
            <a:spLocks noChangeShapeType="1"/>
          </p:cNvSpPr>
          <p:nvPr/>
        </p:nvSpPr>
        <p:spPr bwMode="auto">
          <a:xfrm flipH="1">
            <a:off x="5886450" y="5664200"/>
            <a:ext cx="1085850" cy="0"/>
          </a:xfrm>
          <a:prstGeom prst="line">
            <a:avLst/>
          </a:prstGeom>
          <a:noFill/>
          <a:ln w="25400">
            <a:solidFill>
              <a:srgbClr val="FA821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2.13</a:t>
            </a:r>
          </a:p>
        </p:txBody>
      </p:sp>
      <p:sp>
        <p:nvSpPr>
          <p:cNvPr id="63491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Scope</a:t>
            </a:r>
          </a:p>
        </p:txBody>
      </p:sp>
      <p:sp>
        <p:nvSpPr>
          <p:cNvPr id="645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mtClean="0"/>
              <a:t>The </a:t>
            </a:r>
            <a:r>
              <a:rPr lang="en-US" altLang="en-US" u="sng" smtClean="0"/>
              <a:t>scope</a:t>
            </a:r>
            <a:r>
              <a:rPr lang="en-US" altLang="en-US" smtClean="0"/>
              <a:t> of a variable: the part of the program in which the variable can be accessed</a:t>
            </a:r>
          </a:p>
          <a:p>
            <a:pPr>
              <a:spcBef>
                <a:spcPct val="50000"/>
              </a:spcBef>
            </a:pPr>
            <a:r>
              <a:rPr lang="en-US" altLang="en-US" smtClean="0"/>
              <a:t>A variable cannot be used before it is defined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Variable Out of Scope in Program 2-20</a:t>
            </a:r>
          </a:p>
        </p:txBody>
      </p:sp>
      <p:pic>
        <p:nvPicPr>
          <p:cNvPr id="655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25" y="1676400"/>
            <a:ext cx="7092950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2.14</a:t>
            </a:r>
          </a:p>
        </p:txBody>
      </p:sp>
      <p:sp>
        <p:nvSpPr>
          <p:cNvPr id="66563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Arithmetic Operators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Arithmetic Operators</a:t>
            </a:r>
          </a:p>
        </p:txBody>
      </p:sp>
      <p:sp>
        <p:nvSpPr>
          <p:cNvPr id="6758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smtClean="0"/>
              <a:t>Used for performing numeric calculations</a:t>
            </a:r>
          </a:p>
          <a:p>
            <a:pPr>
              <a:spcBef>
                <a:spcPct val="30000"/>
              </a:spcBef>
            </a:pPr>
            <a:r>
              <a:rPr lang="en-US" altLang="en-US" smtClean="0"/>
              <a:t>C++ has unary, binary, and ternary operators:</a:t>
            </a:r>
          </a:p>
          <a:p>
            <a:pPr lvl="1">
              <a:spcBef>
                <a:spcPct val="30000"/>
              </a:spcBef>
            </a:pPr>
            <a:r>
              <a:rPr lang="en-US" altLang="en-US" smtClean="0"/>
              <a:t>unary (1 operand)	      </a:t>
            </a:r>
            <a:r>
              <a:rPr lang="en-US" altLang="en-US" smtClean="0">
                <a:latin typeface="Courier New" panose="02070309020205020404" pitchFamily="49" charset="0"/>
              </a:rPr>
              <a:t>-5</a:t>
            </a:r>
          </a:p>
          <a:p>
            <a:pPr lvl="1">
              <a:spcBef>
                <a:spcPct val="30000"/>
              </a:spcBef>
            </a:pPr>
            <a:r>
              <a:rPr lang="en-US" altLang="en-US" smtClean="0"/>
              <a:t>binary (2 operands)     </a:t>
            </a:r>
            <a:r>
              <a:rPr lang="en-US" altLang="en-US" smtClean="0">
                <a:latin typeface="Courier New" panose="02070309020205020404" pitchFamily="49" charset="0"/>
              </a:rPr>
              <a:t>13 - 7</a:t>
            </a:r>
            <a:endParaRPr lang="en-US" altLang="en-US" smtClean="0"/>
          </a:p>
          <a:p>
            <a:pPr lvl="1">
              <a:spcBef>
                <a:spcPct val="30000"/>
              </a:spcBef>
            </a:pPr>
            <a:r>
              <a:rPr lang="en-US" altLang="en-US" smtClean="0"/>
              <a:t>ternary (3 operands) </a:t>
            </a:r>
            <a:r>
              <a:rPr lang="en-US" altLang="en-US" smtClean="0">
                <a:latin typeface="Courier New" panose="02070309020205020404" pitchFamily="49" charset="0"/>
              </a:rPr>
              <a:t>exp1 ? exp2 : exp3</a:t>
            </a:r>
            <a:endParaRPr lang="en-US" altLang="en-US" smtClean="0"/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Binary Arithmetic Operators</a:t>
            </a:r>
          </a:p>
        </p:txBody>
      </p:sp>
      <p:graphicFrame>
        <p:nvGraphicFramePr>
          <p:cNvPr id="4" name="Group 3"/>
          <p:cNvGraphicFramePr>
            <a:graphicFrameLocks noGrp="1"/>
          </p:cNvGraphicFramePr>
          <p:nvPr/>
        </p:nvGraphicFramePr>
        <p:xfrm>
          <a:off x="381000" y="1752600"/>
          <a:ext cx="8305800" cy="4343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SYMBOL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EXAMPLE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VALUE OF </a:t>
                      </a: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addition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 + 3;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subtraction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7 - 3;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multiplication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 * 3;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division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 / 3;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modulus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7 % 3;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ヒラギノ角ゴ Pro W3" pitchFamily="-16" charset="-128"/>
                        <a:cs typeface="Courier New" panose="020703090202050204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-16" charset="0"/>
                        <a:ea typeface="ヒラギノ角ゴ Pro W3" pitchFamily="-16" charset="-128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Arithmetic Operators in Program 2-21</a:t>
            </a:r>
          </a:p>
        </p:txBody>
      </p:sp>
      <p:pic>
        <p:nvPicPr>
          <p:cNvPr id="696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28713"/>
            <a:ext cx="56388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Closer Look at the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mtClean="0"/>
              <a:t> Operator</a:t>
            </a:r>
          </a:p>
        </p:txBody>
      </p:sp>
      <p:sp>
        <p:nvSpPr>
          <p:cNvPr id="7065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/</a:t>
            </a:r>
            <a:r>
              <a:rPr lang="en-US" altLang="en-US" smtClean="0"/>
              <a:t> (division) operator performs integer division if both operands are integers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13 / 5;    // displays 2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91 / 7;    // displays 13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If either operand is floating point, the result is floating point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13 / 5.0;  // displays 2.6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91.0 / 7;  // displays 13.0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Closer Look at the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mtClean="0"/>
              <a:t> Operator</a:t>
            </a:r>
          </a:p>
        </p:txBody>
      </p:sp>
      <p:sp>
        <p:nvSpPr>
          <p:cNvPr id="7168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smtClean="0">
                <a:latin typeface="Courier New" panose="02070309020205020404" pitchFamily="49" charset="0"/>
              </a:rPr>
              <a:t>%</a:t>
            </a:r>
            <a:r>
              <a:rPr lang="en-US" altLang="en-US" smtClean="0"/>
              <a:t> (modulus) operator computes the remainder resulting from integer division</a:t>
            </a:r>
          </a:p>
          <a:p>
            <a:pPr lvl="1">
              <a:spcBef>
                <a:spcPct val="40000"/>
              </a:spcBef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13 % 5;   // displays 3</a:t>
            </a:r>
          </a:p>
          <a:p>
            <a:pPr>
              <a:spcBef>
                <a:spcPct val="40000"/>
              </a:spcBef>
            </a:pPr>
            <a:r>
              <a:rPr lang="en-US" altLang="en-US" smtClean="0">
                <a:latin typeface="Courier New" panose="02070309020205020404" pitchFamily="49" charset="0"/>
              </a:rPr>
              <a:t>%</a:t>
            </a:r>
            <a:r>
              <a:rPr lang="en-US" altLang="en-US" smtClean="0"/>
              <a:t> requires integers for both operands</a:t>
            </a:r>
          </a:p>
          <a:p>
            <a:pPr lvl="1">
              <a:spcBef>
                <a:spcPct val="40000"/>
              </a:spcBef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13 % 5.0; // error</a:t>
            </a:r>
            <a:endParaRPr lang="en-US" altLang="en-US" smtClean="0"/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2.15</a:t>
            </a:r>
          </a:p>
        </p:txBody>
      </p:sp>
      <p:sp>
        <p:nvSpPr>
          <p:cNvPr id="7270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Comments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Comments</a:t>
            </a:r>
          </a:p>
        </p:txBody>
      </p:sp>
      <p:sp>
        <p:nvSpPr>
          <p:cNvPr id="737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to document parts of the program</a:t>
            </a:r>
          </a:p>
          <a:p>
            <a:r>
              <a:rPr lang="en-US" altLang="en-US" smtClean="0"/>
              <a:t>Intended for persons reading the source code of the program:</a:t>
            </a:r>
          </a:p>
          <a:p>
            <a:pPr lvl="1"/>
            <a:r>
              <a:rPr lang="en-US" altLang="en-US" smtClean="0"/>
              <a:t>Indicate the purpose of the program</a:t>
            </a:r>
          </a:p>
          <a:p>
            <a:pPr lvl="1"/>
            <a:r>
              <a:rPr lang="en-US" altLang="en-US" smtClean="0"/>
              <a:t>Describe the use of variables</a:t>
            </a:r>
          </a:p>
          <a:p>
            <a:pPr lvl="1"/>
            <a:r>
              <a:rPr lang="en-US" altLang="en-US" smtClean="0"/>
              <a:t>Explain complex sections of code</a:t>
            </a:r>
          </a:p>
          <a:p>
            <a:r>
              <a:rPr lang="en-US" altLang="en-US" smtClean="0"/>
              <a:t>Are ignored by the compiler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Single-Line Comments</a:t>
            </a:r>
          </a:p>
        </p:txBody>
      </p:sp>
      <p:sp>
        <p:nvSpPr>
          <p:cNvPr id="747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Begin with </a:t>
            </a:r>
            <a:r>
              <a:rPr lang="en-US" altLang="en-US" smtClean="0">
                <a:latin typeface="Courier New" panose="02070309020205020404" pitchFamily="49" charset="0"/>
              </a:rPr>
              <a:t>//</a:t>
            </a:r>
            <a:r>
              <a:rPr lang="en-US" altLang="en-US" smtClean="0"/>
              <a:t> through to the end of line:</a:t>
            </a: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int length = 12; // length in inches</a:t>
            </a: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int width = 15;  // width in inches</a:t>
            </a: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int area;        // calculated area</a:t>
            </a:r>
          </a:p>
          <a:p>
            <a:pPr lvl="1">
              <a:buFontTx/>
              <a:buNone/>
            </a:pPr>
            <a:endParaRPr lang="en-US" altLang="en-US" smtClean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// calculate rectangle area</a:t>
            </a: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area = length * width; 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Multi-Line Comments</a:t>
            </a:r>
          </a:p>
        </p:txBody>
      </p:sp>
      <p:sp>
        <p:nvSpPr>
          <p:cNvPr id="757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Begin with </a:t>
            </a:r>
            <a:r>
              <a:rPr lang="en-US" altLang="en-US" smtClean="0">
                <a:latin typeface="Courier New" panose="02070309020205020404" pitchFamily="49" charset="0"/>
              </a:rPr>
              <a:t>/*</a:t>
            </a:r>
            <a:r>
              <a:rPr lang="en-US" altLang="en-US" smtClean="0"/>
              <a:t>, end with </a:t>
            </a:r>
            <a:r>
              <a:rPr lang="en-US" altLang="en-US" smtClean="0">
                <a:latin typeface="Courier New" panose="02070309020205020404" pitchFamily="49" charset="0"/>
              </a:rPr>
              <a:t>*/</a:t>
            </a:r>
            <a:endParaRPr lang="en-US" altLang="en-US" smtClean="0"/>
          </a:p>
          <a:p>
            <a:r>
              <a:rPr lang="en-US" altLang="en-US" smtClean="0"/>
              <a:t>Can span multiple lines: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/* this is a multi-line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   comment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*/</a:t>
            </a:r>
            <a:endParaRPr lang="en-US" altLang="en-US" smtClean="0"/>
          </a:p>
          <a:p>
            <a:r>
              <a:rPr lang="en-US" altLang="en-US" smtClean="0"/>
              <a:t>Can begin and end on the same line: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int area;   /* calculated area */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2.16</a:t>
            </a:r>
          </a:p>
        </p:txBody>
      </p:sp>
      <p:sp>
        <p:nvSpPr>
          <p:cNvPr id="76803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Named Constants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Named Constants</a:t>
            </a:r>
          </a:p>
        </p:txBody>
      </p:sp>
      <p:sp>
        <p:nvSpPr>
          <p:cNvPr id="778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 smtClean="0"/>
              <a:t>Named constant</a:t>
            </a:r>
            <a:r>
              <a:rPr lang="en-US" altLang="en-US" smtClean="0"/>
              <a:t> (</a:t>
            </a:r>
            <a:r>
              <a:rPr lang="en-US" altLang="en-US" u="sng" smtClean="0"/>
              <a:t>constant variable</a:t>
            </a:r>
            <a:r>
              <a:rPr lang="en-US" altLang="en-US" smtClean="0"/>
              <a:t>): variable whose content cannot be changed during program execution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Used for representing constant values with descriptive names: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const double TAX_RATE = 0.0675;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const int NUM_STATES = 50;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Often named in uppercase letters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Named Constants in Program 2-28</a:t>
            </a:r>
          </a:p>
        </p:txBody>
      </p:sp>
      <p:pic>
        <p:nvPicPr>
          <p:cNvPr id="788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295400"/>
            <a:ext cx="6324600" cy="500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2.17</a:t>
            </a:r>
          </a:p>
        </p:txBody>
      </p:sp>
      <p:sp>
        <p:nvSpPr>
          <p:cNvPr id="798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Programming Style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Programming Style</a:t>
            </a:r>
          </a:p>
        </p:txBody>
      </p:sp>
      <p:sp>
        <p:nvSpPr>
          <p:cNvPr id="808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visual organization of the source code</a:t>
            </a:r>
          </a:p>
          <a:p>
            <a:r>
              <a:rPr lang="en-US" altLang="en-US" smtClean="0"/>
              <a:t>Includes the use of spaces, tabs, and blank lines</a:t>
            </a:r>
          </a:p>
          <a:p>
            <a:r>
              <a:rPr lang="en-US" altLang="en-US" smtClean="0"/>
              <a:t>Does not affect the syntax of the program</a:t>
            </a:r>
          </a:p>
          <a:p>
            <a:r>
              <a:rPr lang="en-US" altLang="en-US" smtClean="0"/>
              <a:t>Affects the readability of the source code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6550777F29FC4EAE6EA1A4C0F2AD60" ma:contentTypeVersion="13" ma:contentTypeDescription="Create a new document." ma:contentTypeScope="" ma:versionID="f04f536baea50c7dceb93154ecd85938">
  <xsd:schema xmlns:xsd="http://www.w3.org/2001/XMLSchema" xmlns:xs="http://www.w3.org/2001/XMLSchema" xmlns:p="http://schemas.microsoft.com/office/2006/metadata/properties" xmlns:ns3="93bc0456-ae81-429f-8267-333bd39f93dc" xmlns:ns4="e186162f-713a-4acf-ac19-2858f26c659b" targetNamespace="http://schemas.microsoft.com/office/2006/metadata/properties" ma:root="true" ma:fieldsID="73375375d42fc6dcd23af85632ab16d2" ns3:_="" ns4:_="">
    <xsd:import namespace="93bc0456-ae81-429f-8267-333bd39f93dc"/>
    <xsd:import namespace="e186162f-713a-4acf-ac19-2858f26c659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c0456-ae81-429f-8267-333bd39f93d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6162f-713a-4acf-ac19-2858f26c65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A9221F-1E61-44DB-92F6-391A22B75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bc0456-ae81-429f-8267-333bd39f93dc"/>
    <ds:schemaRef ds:uri="e186162f-713a-4acf-ac19-2858f26c65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3178F5-74D8-480A-8D70-C4F9E4B914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5CBB0C-42E3-40F8-9783-7BB6D07B20C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186162f-713a-4acf-ac19-2858f26c659b"/>
    <ds:schemaRef ds:uri="93bc0456-ae81-429f-8267-333bd39f93d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</TotalTime>
  <Words>1436</Words>
  <Application>Microsoft Office PowerPoint</Application>
  <PresentationFormat>On-screen Show (4:3)</PresentationFormat>
  <Paragraphs>370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Arial</vt:lpstr>
      <vt:lpstr>Calibri</vt:lpstr>
      <vt:lpstr>Times New Roman</vt:lpstr>
      <vt:lpstr>Courier New</vt:lpstr>
      <vt:lpstr>Times</vt:lpstr>
      <vt:lpstr>ヒラギノ角ゴ Pro W3</vt:lpstr>
      <vt:lpstr>Default Design</vt:lpstr>
      <vt:lpstr>PowerPoint Presentation</vt:lpstr>
      <vt:lpstr>2.1</vt:lpstr>
      <vt:lpstr>The Parts of a C++ Program</vt:lpstr>
      <vt:lpstr>Special Characters</vt:lpstr>
      <vt:lpstr>2.2</vt:lpstr>
      <vt:lpstr>The cout Object</vt:lpstr>
      <vt:lpstr>The cout Object</vt:lpstr>
      <vt:lpstr>The cout Object</vt:lpstr>
      <vt:lpstr>The endl Manipulator</vt:lpstr>
      <vt:lpstr>The endl Manipulator</vt:lpstr>
      <vt:lpstr>The endl Manipulator</vt:lpstr>
      <vt:lpstr>The \n Escape Sequence</vt:lpstr>
      <vt:lpstr>The \n Escape Sequence</vt:lpstr>
      <vt:lpstr>2.3</vt:lpstr>
      <vt:lpstr>The #include Directive</vt:lpstr>
      <vt:lpstr>2.4</vt:lpstr>
      <vt:lpstr>Variables and Literals</vt:lpstr>
      <vt:lpstr>Variable Definition in Program 2-7</vt:lpstr>
      <vt:lpstr>Literals</vt:lpstr>
      <vt:lpstr>Integer Literal in Program 2-9</vt:lpstr>
      <vt:lpstr>String Literals in Program 2-9</vt:lpstr>
      <vt:lpstr>2.5</vt:lpstr>
      <vt:lpstr>Identifiers</vt:lpstr>
      <vt:lpstr>C++ Key Words</vt:lpstr>
      <vt:lpstr>Variable Names</vt:lpstr>
      <vt:lpstr>Identifier Rules</vt:lpstr>
      <vt:lpstr>Valid and Invalid Identifiers</vt:lpstr>
      <vt:lpstr>2.6</vt:lpstr>
      <vt:lpstr>Integer Data Types</vt:lpstr>
      <vt:lpstr>Defining Variables</vt:lpstr>
      <vt:lpstr>Integer Types in Program 2-10</vt:lpstr>
      <vt:lpstr>Integer Literals</vt:lpstr>
      <vt:lpstr>Integer Literals in Program 2-10</vt:lpstr>
      <vt:lpstr>Integer Literals</vt:lpstr>
      <vt:lpstr>2.7</vt:lpstr>
      <vt:lpstr>The char Data Type</vt:lpstr>
      <vt:lpstr>Character Literals</vt:lpstr>
      <vt:lpstr>Character Literals in Program 2-14</vt:lpstr>
      <vt:lpstr>Character Strings</vt:lpstr>
      <vt:lpstr>2.8</vt:lpstr>
      <vt:lpstr>The C++ string Class</vt:lpstr>
      <vt:lpstr>The string class in Program 2-15</vt:lpstr>
      <vt:lpstr>2.9</vt:lpstr>
      <vt:lpstr>Floating-Point Data Types</vt:lpstr>
      <vt:lpstr>Floating-Point Data Types</vt:lpstr>
      <vt:lpstr>Floating-Point Literals</vt:lpstr>
      <vt:lpstr>Floating-Point Data Types in Program 2-16</vt:lpstr>
      <vt:lpstr>2.10</vt:lpstr>
      <vt:lpstr>The bool Data Type</vt:lpstr>
      <vt:lpstr>Boolean Variables in Program 2-17</vt:lpstr>
      <vt:lpstr>2.11</vt:lpstr>
      <vt:lpstr>Determining the Size of a Data Type</vt:lpstr>
      <vt:lpstr>2.12</vt:lpstr>
      <vt:lpstr>Variable Assignments and Initialization</vt:lpstr>
      <vt:lpstr>Assignment</vt:lpstr>
      <vt:lpstr>Variable Initialization</vt:lpstr>
      <vt:lpstr>Variable Initialization in Program 2-19</vt:lpstr>
      <vt:lpstr>Declaring Variables With the auto Key Word</vt:lpstr>
      <vt:lpstr>2.13</vt:lpstr>
      <vt:lpstr>Scope</vt:lpstr>
      <vt:lpstr>Variable Out of Scope in Program 2-20</vt:lpstr>
      <vt:lpstr>2.14</vt:lpstr>
      <vt:lpstr>Arithmetic Operators</vt:lpstr>
      <vt:lpstr>Binary Arithmetic Operators</vt:lpstr>
      <vt:lpstr>Arithmetic Operators in Program 2-21</vt:lpstr>
      <vt:lpstr>A Closer Look at the / Operator</vt:lpstr>
      <vt:lpstr>A Closer Look at the % Operator</vt:lpstr>
      <vt:lpstr>2.15</vt:lpstr>
      <vt:lpstr>Comments</vt:lpstr>
      <vt:lpstr>Single-Line Comments</vt:lpstr>
      <vt:lpstr>Multi-Line Comments</vt:lpstr>
      <vt:lpstr>2.16</vt:lpstr>
      <vt:lpstr>Named Constants</vt:lpstr>
      <vt:lpstr>Named Constants in Program 2-28</vt:lpstr>
      <vt:lpstr>2.17</vt:lpstr>
      <vt:lpstr>Programming Style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Introduction to C++</dc:subject>
  <dc:creator>Tony Gaddis</dc:creator>
  <cp:lastModifiedBy>Dawn Ellis</cp:lastModifiedBy>
  <cp:revision>100</cp:revision>
  <dcterms:created xsi:type="dcterms:W3CDTF">2011-02-16T20:47:20Z</dcterms:created>
  <dcterms:modified xsi:type="dcterms:W3CDTF">2020-01-14T20:11:57Z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0x010100506550777F29FC4EAE6EA1A4C0F2AD60</vt:lpwstr>
  </property>
</Properties>
</file>