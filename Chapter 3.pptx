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74"/>
  </p:handout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218"/>
    <a:srgbClr val="0488AE"/>
    <a:srgbClr val="E6FCFE"/>
    <a:srgbClr val="DAFBFE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20586"/>
    </p:cViewPr>
  </p:sorterViewPr>
  <p:notesViewPr>
    <p:cSldViewPr>
      <p:cViewPr varScale="1">
        <p:scale>
          <a:sx n="56" d="100"/>
          <a:sy n="56" d="100"/>
        </p:scale>
        <p:origin x="-285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8BB1BC-79B5-4547-8904-90358461A8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A97C2-1D2A-4892-BC06-8C7D0C6E50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B79C930-029B-46FA-95ED-058F91D76D5C}" type="datetimeFigureOut">
              <a:rPr lang="en-US"/>
              <a:pPr>
                <a:defRPr/>
              </a:pPr>
              <a:t>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A88B9-EB73-4272-B66C-EE64286739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AC556-7151-4F95-824A-27BDDE3A8C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514CDEC-1088-4D66-95A4-6CD26CAD86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C4B56C-E741-4542-A4B6-AF7E9D453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75" y="228600"/>
            <a:ext cx="1190625" cy="1487488"/>
          </a:xfrm>
          <a:prstGeom prst="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8000">
                <a:solidFill>
                  <a:srgbClr val="0488AE"/>
                </a:solidFill>
              </a:defRPr>
            </a:lvl1pPr>
          </a:lstStyle>
          <a:p>
            <a:r>
              <a:rPr lang="en-US" dirty="0"/>
              <a:t>Section #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18EFE-FA67-4499-9DA3-B2ED6829E96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34200" y="6245225"/>
            <a:ext cx="1752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808AF-5BD9-4617-967D-FAD4497270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94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Tx/>
              <a:buBlip>
                <a:blip r:embed="rId2"/>
              </a:buBlip>
              <a:defRPr/>
            </a:lvl1pPr>
            <a:lvl2pPr marL="742950" indent="-28575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D7B5B-D90D-4049-A192-88C91890F4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658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B6600-B64C-4CBF-A86B-387ADB93ED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98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7E74F-CA8A-4A53-883A-D726995D86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66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B9F7B-1453-471A-9F59-173A0C8928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813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B1258-BDC0-4218-9469-418438874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56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30D0E-EB19-4844-96C0-B8E2E6C7E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345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496EC-B494-4965-B131-DDC15ED538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83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557DF-4E26-474F-A6D2-F0385A2E96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480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81059-E9D8-4B88-943C-78E20AC0F2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866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3B5E7-35FF-40A7-8458-0076942F37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32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CF7790-C2EB-4B94-85AC-E794BBAB52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3B87861-7460-4876-811B-69C9FA6E95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9" name="Text Box 14">
            <a:extLst>
              <a:ext uri="{FF2B5EF4-FFF2-40B4-BE49-F238E27FC236}">
                <a16:creationId xmlns:a16="http://schemas.microsoft.com/office/drawing/2014/main" id="{006605DC-AD3B-44B1-B1A1-7769C83281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84263" y="6481763"/>
            <a:ext cx="53609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dirty="0">
                <a:latin typeface="Times New Roman" pitchFamily="18" charset="0"/>
              </a:rPr>
              <a:t>Copyright © 2018, 2015, 2012, 2009 Pearson Education, Inc. All rights reserved.</a:t>
            </a:r>
          </a:p>
        </p:txBody>
      </p:sp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507163"/>
            <a:ext cx="76200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457200" y="1524000"/>
            <a:ext cx="357663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4400" b="1">
                <a:solidFill>
                  <a:srgbClr val="0488AE"/>
                </a:solidFill>
              </a:rPr>
              <a:t>Chapter 3:</a:t>
            </a:r>
            <a:endParaRPr lang="en-US" altLang="en-US" sz="2800" b="1"/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/>
              <a:t>Expressions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/>
              <a:t>and Interactivity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07A6A-A735-467B-950A-06DA4D814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609600"/>
            <a:ext cx="4232275" cy="5294313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3.1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mtClean="0"/>
              <a:t> Object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mtClean="0"/>
              <a:t> Object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Standard input object</a:t>
            </a:r>
          </a:p>
          <a:p>
            <a:pPr eaLnBrk="1" hangingPunct="1"/>
            <a:r>
              <a:rPr lang="en-US" altLang="en-US" smtClean="0"/>
              <a:t>Like </a:t>
            </a:r>
            <a:r>
              <a:rPr lang="en-US" altLang="en-US" smtClean="0">
                <a:latin typeface="Courier New" panose="02070309020205020404" pitchFamily="49" charset="0"/>
              </a:rPr>
              <a:t>cout</a:t>
            </a:r>
            <a:r>
              <a:rPr lang="en-US" altLang="en-US" smtClean="0"/>
              <a:t>, requires </a:t>
            </a:r>
            <a:r>
              <a:rPr lang="en-US" altLang="en-US" smtClean="0">
                <a:latin typeface="Courier New" panose="02070309020205020404" pitchFamily="49" charset="0"/>
              </a:rPr>
              <a:t>iostream</a:t>
            </a:r>
            <a:r>
              <a:rPr lang="en-US" altLang="en-US" smtClean="0"/>
              <a:t> file</a:t>
            </a:r>
          </a:p>
          <a:p>
            <a:pPr eaLnBrk="1" hangingPunct="1"/>
            <a:r>
              <a:rPr lang="en-US" altLang="en-US" smtClean="0"/>
              <a:t>Used to read input from keyboard</a:t>
            </a:r>
          </a:p>
          <a:p>
            <a:pPr eaLnBrk="1" hangingPunct="1"/>
            <a:r>
              <a:rPr lang="en-US" altLang="en-US" smtClean="0"/>
              <a:t>Information retrieved from </a:t>
            </a:r>
            <a:r>
              <a:rPr lang="en-US" altLang="en-US" smtClean="0">
                <a:latin typeface="Courier New" panose="02070309020205020404" pitchFamily="49" charset="0"/>
              </a:rPr>
              <a:t>cin</a:t>
            </a:r>
            <a:r>
              <a:rPr lang="en-US" altLang="en-US" smtClean="0"/>
              <a:t> with </a:t>
            </a:r>
            <a:r>
              <a:rPr lang="en-US" altLang="en-US" smtClean="0">
                <a:latin typeface="Courier New" panose="02070309020205020404" pitchFamily="49" charset="0"/>
              </a:rPr>
              <a:t>&gt;&gt;</a:t>
            </a:r>
          </a:p>
          <a:p>
            <a:pPr eaLnBrk="1" hangingPunct="1"/>
            <a:r>
              <a:rPr lang="en-US" altLang="en-US" smtClean="0"/>
              <a:t>Input is stored in one or more variables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mtClean="0"/>
              <a:t> Object in Program 3-1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7175"/>
            <a:ext cx="5765800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mtClean="0"/>
              <a:t> Object</a:t>
            </a:r>
          </a:p>
        </p:txBody>
      </p:sp>
      <p:sp>
        <p:nvSpPr>
          <p:cNvPr id="819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latin typeface="Courier New" panose="02070309020205020404" pitchFamily="49" charset="0"/>
              </a:rPr>
              <a:t>cin</a:t>
            </a:r>
            <a:r>
              <a:rPr lang="en-US" altLang="en-US" smtClean="0"/>
              <a:t> converts data to the type that matches the variable: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int height;</a:t>
            </a:r>
          </a:p>
          <a:p>
            <a:pPr lvl="1" eaLnBrk="1" hangingPunct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cout &lt;&lt; "How tall is the room? ";</a:t>
            </a:r>
          </a:p>
          <a:p>
            <a:pPr lvl="1" eaLnBrk="1" hangingPunct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cin &gt;&gt; height;</a:t>
            </a: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Displaying a Prompt</a:t>
            </a:r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prompt is a message that instructs the user to enter data.</a:t>
            </a:r>
          </a:p>
          <a:p>
            <a:pPr eaLnBrk="1" hangingPunct="1"/>
            <a:r>
              <a:rPr lang="en-US" altLang="en-US" smtClean="0"/>
              <a:t>You should always use </a:t>
            </a:r>
            <a:r>
              <a:rPr lang="en-US" altLang="en-US" b="1" smtClean="0">
                <a:latin typeface="Courier New" panose="02070309020205020404" pitchFamily="49" charset="0"/>
              </a:rPr>
              <a:t>cout</a:t>
            </a:r>
            <a:r>
              <a:rPr lang="en-US" altLang="en-US" smtClean="0"/>
              <a:t> to display a prompt before each </a:t>
            </a:r>
            <a:r>
              <a:rPr lang="en-US" altLang="en-US" b="1" smtClean="0">
                <a:latin typeface="Courier New" panose="02070309020205020404" pitchFamily="49" charset="0"/>
              </a:rPr>
              <a:t>cin</a:t>
            </a:r>
            <a:r>
              <a:rPr lang="en-US" altLang="en-US" smtClean="0"/>
              <a:t> statement.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800" smtClean="0">
                <a:latin typeface="Courier New" panose="02070309020205020404" pitchFamily="49" charset="0"/>
              </a:rPr>
              <a:t>cout &lt;&lt; "How tall is the room? ";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cin &gt;&gt; height;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mtClean="0"/>
              <a:t> Object</a:t>
            </a:r>
          </a:p>
        </p:txBody>
      </p:sp>
      <p:sp>
        <p:nvSpPr>
          <p:cNvPr id="102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Can be used to input more than one value: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/>
              <a:t>	</a:t>
            </a:r>
            <a:r>
              <a:rPr lang="en-US" altLang="en-US" sz="2400" smtClean="0">
                <a:latin typeface="Courier New" panose="02070309020205020404" pitchFamily="49" charset="0"/>
              </a:rPr>
              <a:t>cin &gt;&gt; height &gt;&gt; width;</a:t>
            </a:r>
            <a:br>
              <a:rPr lang="en-US" altLang="en-US" sz="2400" smtClean="0">
                <a:latin typeface="Courier New" panose="02070309020205020404" pitchFamily="49" charset="0"/>
              </a:rPr>
            </a:br>
            <a:endParaRPr lang="en-US" altLang="en-US" sz="2400" smtClean="0"/>
          </a:p>
          <a:p>
            <a:pPr eaLnBrk="1" hangingPunct="1"/>
            <a:r>
              <a:rPr lang="en-US" altLang="en-US" sz="2800" smtClean="0"/>
              <a:t>Multiple values from keyboard must be separated by spaces</a:t>
            </a:r>
            <a:br>
              <a:rPr lang="en-US" altLang="en-US" sz="2800" smtClean="0"/>
            </a:br>
            <a:endParaRPr lang="en-US" altLang="en-US" sz="2800" smtClean="0"/>
          </a:p>
          <a:p>
            <a:pPr eaLnBrk="1" hangingPunct="1"/>
            <a:r>
              <a:rPr lang="en-US" altLang="en-US" sz="2800" smtClean="0"/>
              <a:t>Order is important: first value entered goes to first variable, etc.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20A6-3004-493F-9840-07B66D5E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dirty="0"/>
              <a:t> Object Gathers Multiple Values in Program 3-2</a:t>
            </a: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16063"/>
            <a:ext cx="6096000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41A3-EA6E-4685-8DF5-DE851A551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dirty="0"/>
              <a:t> Object Reads Different Data Types in Program 3-3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7488"/>
            <a:ext cx="6096000" cy="502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3.2</a:t>
            </a:r>
          </a:p>
        </p:txBody>
      </p:sp>
      <p:sp>
        <p:nvSpPr>
          <p:cNvPr id="1331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Mathematical Expressions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Mathematical Expressions</a:t>
            </a:r>
          </a:p>
        </p:txBody>
      </p:sp>
      <p:sp>
        <p:nvSpPr>
          <p:cNvPr id="1433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2800" smtClean="0"/>
              <a:t>Can create complex expressions using multiple mathematical operators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800" smtClean="0"/>
              <a:t>An expression can be a literal, a variable, or a mathematical combination of constants and variables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800" smtClean="0"/>
              <a:t>Can be used in assignment, </a:t>
            </a:r>
            <a:r>
              <a:rPr lang="en-US" altLang="en-US" sz="2800" smtClean="0">
                <a:latin typeface="Courier New" panose="02070309020205020404" pitchFamily="49" charset="0"/>
              </a:rPr>
              <a:t>cout</a:t>
            </a:r>
            <a:r>
              <a:rPr lang="en-US" altLang="en-US" sz="2800" smtClean="0"/>
              <a:t>, other statements:</a:t>
            </a:r>
          </a:p>
          <a:p>
            <a:pPr lvl="1" eaLnBrk="1" hangingPunct="1">
              <a:lnSpc>
                <a:spcPct val="85000"/>
              </a:lnSpc>
              <a:buFontTx/>
              <a:buNone/>
            </a:pPr>
            <a:r>
              <a:rPr lang="en-US" altLang="en-US" sz="2400" smtClean="0"/>
              <a:t>	</a:t>
            </a:r>
            <a:r>
              <a:rPr lang="en-US" altLang="en-US" sz="2400" smtClean="0">
                <a:latin typeface="Courier New" panose="02070309020205020404" pitchFamily="49" charset="0"/>
              </a:rPr>
              <a:t>area = 2 * PI * radius;</a:t>
            </a:r>
          </a:p>
          <a:p>
            <a:pPr lvl="1" eaLnBrk="1" hangingPunct="1">
              <a:lnSpc>
                <a:spcPct val="85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cout &lt;&lt; "border is: " &lt;&lt; 2*(l+w);</a:t>
            </a:r>
            <a:endParaRPr lang="en-US" altLang="en-US" sz="2400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Order of Operations</a:t>
            </a:r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/>
              <a:t>In an expression with more than one operator, evaluate in this order: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-</a:t>
            </a:r>
            <a:r>
              <a:rPr lang="en-US" altLang="en-US" sz="2400" smtClean="0"/>
              <a:t> (unary negation), in order, left to right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* / %</a:t>
            </a:r>
            <a:r>
              <a:rPr lang="en-US" altLang="en-US" sz="2400" smtClean="0"/>
              <a:t>, in order, left to right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+ -</a:t>
            </a:r>
            <a:r>
              <a:rPr lang="en-US" altLang="en-US" sz="2400" smtClean="0"/>
              <a:t>, in order, left to right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	</a:t>
            </a:r>
            <a:r>
              <a:rPr lang="en-US" altLang="en-US" sz="2800" smtClean="0"/>
              <a:t>In the expression </a:t>
            </a:r>
            <a:r>
              <a:rPr lang="en-US" altLang="en-US" sz="2800" smtClean="0">
                <a:latin typeface="Courier New" panose="02070309020205020404" pitchFamily="49" charset="0"/>
              </a:rPr>
              <a:t>2 + 2 * 2 </a:t>
            </a:r>
            <a:r>
              <a:rPr lang="en-US" altLang="en-US" sz="2800" smtClean="0"/>
              <a:t>–</a:t>
            </a:r>
            <a:r>
              <a:rPr lang="en-US" altLang="en-US" sz="2800" smtClean="0">
                <a:latin typeface="Courier New" panose="02070309020205020404" pitchFamily="49" charset="0"/>
              </a:rPr>
              <a:t> 2 </a:t>
            </a:r>
          </a:p>
          <a:p>
            <a:pPr eaLnBrk="1" hangingPunct="1"/>
            <a:endParaRPr lang="en-US" altLang="en-US" smtClean="0"/>
          </a:p>
        </p:txBody>
      </p:sp>
      <p:grpSp>
        <p:nvGrpSpPr>
          <p:cNvPr id="15364" name="Group 11"/>
          <p:cNvGrpSpPr>
            <a:grpSpLocks/>
          </p:cNvGrpSpPr>
          <p:nvPr/>
        </p:nvGrpSpPr>
        <p:grpSpPr bwMode="auto">
          <a:xfrm>
            <a:off x="4648200" y="4343400"/>
            <a:ext cx="1219200" cy="1098550"/>
            <a:chOff x="3264" y="3120"/>
            <a:chExt cx="768" cy="692"/>
          </a:xfrm>
        </p:grpSpPr>
        <p:sp>
          <p:nvSpPr>
            <p:cNvPr id="15371" name="Text Box 4"/>
            <p:cNvSpPr txBox="1">
              <a:spLocks noChangeArrowheads="1"/>
            </p:cNvSpPr>
            <p:nvPr/>
          </p:nvSpPr>
          <p:spPr bwMode="auto">
            <a:xfrm>
              <a:off x="3264" y="3446"/>
              <a:ext cx="76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evaluate 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first</a:t>
              </a:r>
            </a:p>
          </p:txBody>
        </p:sp>
        <p:sp>
          <p:nvSpPr>
            <p:cNvPr id="15372" name="Line 5"/>
            <p:cNvSpPr>
              <a:spLocks noChangeShapeType="1"/>
            </p:cNvSpPr>
            <p:nvPr/>
          </p:nvSpPr>
          <p:spPr bwMode="auto">
            <a:xfrm flipH="1" flipV="1">
              <a:off x="3552" y="3120"/>
              <a:ext cx="48" cy="240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5" name="Group 10"/>
          <p:cNvGrpSpPr>
            <a:grpSpLocks/>
          </p:cNvGrpSpPr>
          <p:nvPr/>
        </p:nvGrpSpPr>
        <p:grpSpPr bwMode="auto">
          <a:xfrm>
            <a:off x="3048000" y="4343400"/>
            <a:ext cx="1295400" cy="1114425"/>
            <a:chOff x="2208" y="3120"/>
            <a:chExt cx="816" cy="702"/>
          </a:xfrm>
        </p:grpSpPr>
        <p:sp>
          <p:nvSpPr>
            <p:cNvPr id="15369" name="Rectangle 6"/>
            <p:cNvSpPr>
              <a:spLocks noChangeArrowheads="1"/>
            </p:cNvSpPr>
            <p:nvPr/>
          </p:nvSpPr>
          <p:spPr bwMode="auto">
            <a:xfrm>
              <a:off x="2208" y="3456"/>
              <a:ext cx="81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evaluate 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second</a:t>
              </a:r>
            </a:p>
          </p:txBody>
        </p:sp>
        <p:sp>
          <p:nvSpPr>
            <p:cNvPr id="15370" name="Line 7"/>
            <p:cNvSpPr>
              <a:spLocks noChangeShapeType="1"/>
            </p:cNvSpPr>
            <p:nvPr/>
          </p:nvSpPr>
          <p:spPr bwMode="auto">
            <a:xfrm flipV="1">
              <a:off x="2640" y="3120"/>
              <a:ext cx="240" cy="288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6" name="Group 12"/>
          <p:cNvGrpSpPr>
            <a:grpSpLocks/>
          </p:cNvGrpSpPr>
          <p:nvPr/>
        </p:nvGrpSpPr>
        <p:grpSpPr bwMode="auto">
          <a:xfrm>
            <a:off x="5791200" y="4267200"/>
            <a:ext cx="1676400" cy="1038225"/>
            <a:chOff x="4032" y="3120"/>
            <a:chExt cx="1056" cy="654"/>
          </a:xfrm>
        </p:grpSpPr>
        <p:sp>
          <p:nvSpPr>
            <p:cNvPr id="15367" name="Rectangle 8"/>
            <p:cNvSpPr>
              <a:spLocks noChangeArrowheads="1"/>
            </p:cNvSpPr>
            <p:nvPr/>
          </p:nvSpPr>
          <p:spPr bwMode="auto">
            <a:xfrm>
              <a:off x="4032" y="3408"/>
              <a:ext cx="10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evaluate 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third</a:t>
              </a:r>
            </a:p>
          </p:txBody>
        </p:sp>
        <p:sp>
          <p:nvSpPr>
            <p:cNvPr id="15368" name="Line 9"/>
            <p:cNvSpPr>
              <a:spLocks noChangeShapeType="1"/>
            </p:cNvSpPr>
            <p:nvPr/>
          </p:nvSpPr>
          <p:spPr bwMode="auto">
            <a:xfrm flipH="1" flipV="1">
              <a:off x="4176" y="3120"/>
              <a:ext cx="384" cy="240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Order of Operations</a:t>
            </a:r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2362200"/>
            <a:ext cx="64674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Associativity of Operators</a:t>
            </a:r>
          </a:p>
        </p:txBody>
      </p:sp>
      <p:sp>
        <p:nvSpPr>
          <p:cNvPr id="1741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-</a:t>
            </a:r>
            <a:r>
              <a:rPr lang="en-US" altLang="en-US" sz="2800" smtClean="0"/>
              <a:t> (unary negation) associates right to left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latin typeface="Courier New" panose="02070309020205020404" pitchFamily="49" charset="0"/>
              </a:rPr>
              <a:t>*, /, %, +, -</a:t>
            </a:r>
            <a:r>
              <a:rPr lang="en-US" altLang="en-US" sz="2800" smtClean="0"/>
              <a:t>  associate right to left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parentheses ( ) can be used to override the order of operations: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 2 + 2  *  2 </a:t>
            </a:r>
            <a:r>
              <a:rPr lang="en-US" altLang="en-US" sz="2400" smtClean="0"/>
              <a:t>–</a:t>
            </a:r>
            <a:r>
              <a:rPr lang="en-US" altLang="en-US" sz="2400" smtClean="0">
                <a:latin typeface="Courier New" panose="02070309020205020404" pitchFamily="49" charset="0"/>
              </a:rPr>
              <a:t> 2  = 4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(2 + 2) *  2 </a:t>
            </a:r>
            <a:r>
              <a:rPr lang="en-US" altLang="en-US" sz="2400" smtClean="0"/>
              <a:t>–</a:t>
            </a:r>
            <a:r>
              <a:rPr lang="en-US" altLang="en-US" sz="2400" smtClean="0">
                <a:latin typeface="Courier New" panose="02070309020205020404" pitchFamily="49" charset="0"/>
              </a:rPr>
              <a:t> 2  = 6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 2 + 2  * (2 </a:t>
            </a:r>
            <a:r>
              <a:rPr lang="en-US" altLang="en-US" sz="2400" smtClean="0"/>
              <a:t>–</a:t>
            </a:r>
            <a:r>
              <a:rPr lang="en-US" altLang="en-US" sz="2400" smtClean="0">
                <a:latin typeface="Courier New" panose="02070309020205020404" pitchFamily="49" charset="0"/>
              </a:rPr>
              <a:t> 2) = 2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(2 + 2) * (2 </a:t>
            </a:r>
            <a:r>
              <a:rPr lang="en-US" altLang="en-US" sz="2400" smtClean="0"/>
              <a:t>–</a:t>
            </a:r>
            <a:r>
              <a:rPr lang="en-US" altLang="en-US" sz="2400" smtClean="0">
                <a:latin typeface="Courier New" panose="02070309020205020404" pitchFamily="49" charset="0"/>
              </a:rPr>
              <a:t> 2) = 0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Grouping with Parentheses</a:t>
            </a: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2209800"/>
            <a:ext cx="6870700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Algebraic Expressions</a:t>
            </a:r>
          </a:p>
        </p:txBody>
      </p:sp>
      <p:sp>
        <p:nvSpPr>
          <p:cNvPr id="1945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Multiplication requires an operator: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Area=lw</a:t>
            </a:r>
            <a:r>
              <a:rPr lang="en-US" altLang="en-US" smtClean="0"/>
              <a:t> is written as </a:t>
            </a:r>
            <a:r>
              <a:rPr lang="en-US" altLang="en-US" smtClean="0">
                <a:latin typeface="Courier New" panose="02070309020205020404" pitchFamily="49" charset="0"/>
              </a:rPr>
              <a:t>Area = l * w;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There is no exponentiation operator:</a:t>
            </a:r>
          </a:p>
          <a:p>
            <a:pPr lvl="1" eaLnBrk="1" hangingPunct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Area=s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2</a:t>
            </a:r>
            <a:r>
              <a:rPr lang="en-US" altLang="en-US" smtClean="0"/>
              <a:t> is written as </a:t>
            </a:r>
            <a:r>
              <a:rPr lang="en-US" altLang="en-US" smtClean="0">
                <a:latin typeface="Courier New" panose="02070309020205020404" pitchFamily="49" charset="0"/>
              </a:rPr>
              <a:t>Area = pow(s, 2);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Parentheses may be needed to maintain order of operations: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/>
              <a:t>					is written as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/>
              <a:t>					</a:t>
            </a:r>
            <a:r>
              <a:rPr lang="en-US" altLang="en-US" sz="2400" smtClean="0">
                <a:latin typeface="Courier New" panose="02070309020205020404" pitchFamily="49" charset="0"/>
              </a:rPr>
              <a:t>m = (y2-y1) /(x2-x1);</a:t>
            </a:r>
            <a:endParaRPr lang="en-US" altLang="en-US" sz="2400" smtClean="0"/>
          </a:p>
          <a:p>
            <a:pPr eaLnBrk="1" hangingPunct="1"/>
            <a:endParaRPr lang="en-US" altLang="en-US" smtClean="0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990600" y="4648200"/>
          <a:ext cx="2133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3" imgW="748975" imgH="393529" progId="Equation.3">
                  <p:embed/>
                </p:oleObj>
              </mc:Choice>
              <mc:Fallback>
                <p:oleObj name="Equation" r:id="rId3" imgW="748975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648200"/>
                        <a:ext cx="2133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Algebraic Expressions</a:t>
            </a: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628900"/>
            <a:ext cx="85153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3.3</a:t>
            </a:r>
          </a:p>
        </p:txBody>
      </p:sp>
      <p:sp>
        <p:nvSpPr>
          <p:cNvPr id="2150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When You Mix Apples with Oranges: Type Conversion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2C37-F45C-4909-B03C-8025A5DF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When You Mix Apples with Oranges: Type Conversion</a:t>
            </a:r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mtClean="0"/>
              <a:t>Operations are performed between operands of the same type.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mtClean="0"/>
              <a:t>If not of the same type, C++ will convert one to be the type of the other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mtClean="0"/>
              <a:t>This can impact the results of calculations.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Hierarchy of Types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en-US" smtClean="0"/>
              <a:t>Highest:</a:t>
            </a:r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en-US" smtClean="0"/>
              <a:t>Lowest:</a:t>
            </a:r>
          </a:p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en-US" smtClean="0"/>
              <a:t>Ranked by largest number they can hold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2133600" y="1676400"/>
            <a:ext cx="403225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long double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double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float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unsigned long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long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unsigned int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 Coercion</a:t>
            </a:r>
          </a:p>
        </p:txBody>
      </p:sp>
      <p:sp>
        <p:nvSpPr>
          <p:cNvPr id="2457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u="sng" smtClean="0"/>
              <a:t>Type Coercion</a:t>
            </a:r>
            <a:r>
              <a:rPr lang="en-US" altLang="en-US" smtClean="0"/>
              <a:t>: automatic conversion of an operand to another data type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u="sng" smtClean="0"/>
              <a:t>Promotion</a:t>
            </a:r>
            <a:r>
              <a:rPr lang="en-US" altLang="en-US" smtClean="0"/>
              <a:t>: convert to a higher type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u="sng" smtClean="0"/>
              <a:t>Demotion</a:t>
            </a:r>
            <a:r>
              <a:rPr lang="en-US" altLang="en-US" smtClean="0"/>
              <a:t>: convert to a lower type</a:t>
            </a:r>
            <a:endParaRPr lang="en-US" altLang="en-US" u="sng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Coercion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7BCF-7A41-42D5-B804-C2B416B5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 typeface="Times" pitchFamily="-16" charset="0"/>
              <a:buNone/>
              <a:defRPr/>
            </a:pPr>
            <a:r>
              <a:rPr lang="en-US" dirty="0"/>
              <a:t>1)   </a:t>
            </a:r>
            <a:r>
              <a:rPr lang="en-US" dirty="0">
                <a:latin typeface="Courier New" pitchFamily="-16" charset="0"/>
              </a:rPr>
              <a:t>char</a:t>
            </a:r>
            <a:r>
              <a:rPr lang="en-US" dirty="0"/>
              <a:t>, </a:t>
            </a:r>
            <a:r>
              <a:rPr lang="en-US" dirty="0">
                <a:latin typeface="Courier New" pitchFamily="-16" charset="0"/>
              </a:rPr>
              <a:t>short</a:t>
            </a:r>
            <a:r>
              <a:rPr lang="en-US" dirty="0"/>
              <a:t>, </a:t>
            </a:r>
            <a:r>
              <a:rPr lang="en-US" dirty="0">
                <a:latin typeface="Courier New" pitchFamily="-16" charset="0"/>
              </a:rPr>
              <a:t>unsigned short</a:t>
            </a:r>
            <a:r>
              <a:rPr lang="en-US" dirty="0"/>
              <a:t> automatically promoted to </a:t>
            </a:r>
            <a:r>
              <a:rPr lang="en-US" dirty="0" err="1">
                <a:latin typeface="Courier New" pitchFamily="-16" charset="0"/>
              </a:rPr>
              <a:t>int</a:t>
            </a:r>
            <a:endParaRPr lang="en-US" dirty="0">
              <a:latin typeface="Courier New" pitchFamily="-16" charset="0"/>
            </a:endParaRP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  <a:defRPr/>
            </a:pPr>
            <a:r>
              <a:rPr lang="en-US" dirty="0"/>
              <a:t>2)   When operating on values of different data types, the lower one is promoted to the type of the higher one.</a:t>
            </a:r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Tx/>
              <a:buNone/>
              <a:defRPr/>
            </a:pPr>
            <a:r>
              <a:rPr lang="en-US" dirty="0"/>
              <a:t>3)   When using the </a:t>
            </a:r>
            <a:r>
              <a:rPr lang="en-US" dirty="0">
                <a:latin typeface="Courier New" pitchFamily="-16" charset="0"/>
              </a:rPr>
              <a:t>=</a:t>
            </a:r>
            <a:r>
              <a:rPr lang="en-US" dirty="0"/>
              <a:t> operator, the type of expression on right will be converted to type of variable on left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3.4</a:t>
            </a:r>
          </a:p>
        </p:txBody>
      </p:sp>
      <p:sp>
        <p:nvSpPr>
          <p:cNvPr id="26627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Overflow and Underflow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Overflow and Underflow</a:t>
            </a:r>
          </a:p>
        </p:txBody>
      </p:sp>
      <p:sp>
        <p:nvSpPr>
          <p:cNvPr id="2765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mtClean="0"/>
              <a:t>Occurs when assigning a value that is too large (overflow) or too small (underflow) to be held in a variable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mtClean="0"/>
              <a:t>Variable contains value that is ‘wrapped around’ set of possible values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mtClean="0"/>
              <a:t>Different systems may display a warning/error message, stop the program, or continue execution using the incorrect value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3.5</a:t>
            </a:r>
          </a:p>
        </p:txBody>
      </p:sp>
      <p:sp>
        <p:nvSpPr>
          <p:cNvPr id="286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 Casting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 Casting</a:t>
            </a: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/>
              <a:t>Used for manual data type conversion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Useful for floating point division using ints:  </a:t>
            </a:r>
            <a:r>
              <a:rPr lang="en-US" altLang="en-US" sz="2800" smtClean="0">
                <a:latin typeface="Courier New" panose="02070309020205020404" pitchFamily="49" charset="0"/>
              </a:rPr>
              <a:t>double m;</a:t>
            </a:r>
            <a:br>
              <a:rPr lang="en-US" altLang="en-US" sz="2800" smtClean="0">
                <a:latin typeface="Courier New" panose="02070309020205020404" pitchFamily="49" charset="0"/>
              </a:rPr>
            </a:br>
            <a:r>
              <a:rPr lang="en-US" altLang="en-US" sz="2800" smtClean="0">
                <a:latin typeface="Courier New" panose="02070309020205020404" pitchFamily="49" charset="0"/>
              </a:rPr>
              <a:t>m = static_cast&lt;double&gt;(y2-y1)</a:t>
            </a:r>
          </a:p>
          <a:p>
            <a:pPr eaLnBrk="1" hangingPunct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                        /(x2-x1);</a:t>
            </a: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Useful to see </a:t>
            </a:r>
            <a:r>
              <a:rPr lang="en-US" altLang="en-US" smtClean="0">
                <a:latin typeface="Courier New" panose="02070309020205020404" pitchFamily="49" charset="0"/>
              </a:rPr>
              <a:t>int</a:t>
            </a:r>
            <a:r>
              <a:rPr lang="en-US" altLang="en-US" smtClean="0"/>
              <a:t> value of a </a:t>
            </a:r>
            <a:r>
              <a:rPr lang="en-US" altLang="en-US" smtClean="0">
                <a:latin typeface="Courier New" panose="02070309020205020404" pitchFamily="49" charset="0"/>
              </a:rPr>
              <a:t>char</a:t>
            </a:r>
            <a:r>
              <a:rPr lang="en-US" altLang="en-US" smtClean="0"/>
              <a:t> variable:  </a:t>
            </a:r>
          </a:p>
          <a:p>
            <a:pPr eaLnBrk="1" hangingPunct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</a:t>
            </a:r>
            <a:r>
              <a:rPr lang="en-US" altLang="en-US" sz="2800" smtClean="0">
                <a:latin typeface="Courier New" panose="02070309020205020404" pitchFamily="49" charset="0"/>
              </a:rPr>
              <a:t>char ch = 'C';</a:t>
            </a:r>
          </a:p>
          <a:p>
            <a:pPr eaLnBrk="1" hangingPunct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	cout &lt;&lt; ch &lt;&lt; " is " </a:t>
            </a:r>
          </a:p>
          <a:p>
            <a:pPr eaLnBrk="1" hangingPunct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      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&lt;&lt; static_cast&lt;int&gt;(ch);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 Casting in Program 3-9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6705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2C85-2B46-4FAB-BC37-5CD6BF4C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C-Style and </a:t>
            </a:r>
            <a:r>
              <a:rPr lang="en-US" dirty="0" err="1"/>
              <a:t>Prestandard</a:t>
            </a:r>
            <a:r>
              <a:rPr lang="en-US" dirty="0"/>
              <a:t> Type Cast Expressions</a:t>
            </a:r>
          </a:p>
        </p:txBody>
      </p:sp>
      <p:sp>
        <p:nvSpPr>
          <p:cNvPr id="3174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C-Style cast: data type name in </a:t>
            </a:r>
            <a:r>
              <a:rPr lang="en-US" altLang="en-US" smtClean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z="2800" smtClean="0">
                <a:latin typeface="Courier New" panose="02070309020205020404" pitchFamily="49" charset="0"/>
              </a:rPr>
              <a:t>   cout &lt;&lt; ch &lt;&lt; " is " 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&lt;&lt; (int)ch;</a:t>
            </a:r>
            <a:endParaRPr lang="en-US" altLang="en-US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mtClean="0"/>
              <a:t>Prestandard C++ cast: value in </a:t>
            </a:r>
            <a:r>
              <a:rPr lang="en-US" altLang="en-US" smtClean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 </a:t>
            </a:r>
            <a:r>
              <a:rPr lang="en-US" altLang="en-US" sz="2800" smtClean="0">
                <a:latin typeface="Courier New" panose="02070309020205020404" pitchFamily="49" charset="0"/>
              </a:rPr>
              <a:t>cout &lt;&lt; ch &lt;&lt; " is " </a:t>
            </a:r>
            <a:r>
              <a:rPr lang="en-US" altLang="en-US" sz="2800" smtClean="0"/>
              <a:t> </a:t>
            </a:r>
            <a:r>
              <a:rPr lang="en-US" altLang="en-US" sz="2800" smtClean="0">
                <a:latin typeface="Courier New" panose="02070309020205020404" pitchFamily="49" charset="0"/>
              </a:rPr>
              <a:t>&lt;&lt; int(ch);</a:t>
            </a:r>
          </a:p>
          <a:p>
            <a:pPr eaLnBrk="1" hangingPunct="1"/>
            <a:r>
              <a:rPr lang="en-US" altLang="en-US" smtClean="0"/>
              <a:t>Both are still supported in C++, although </a:t>
            </a:r>
            <a:r>
              <a:rPr lang="en-US" altLang="en-US" smtClean="0">
                <a:latin typeface="Courier New" panose="02070309020205020404" pitchFamily="49" charset="0"/>
              </a:rPr>
              <a:t>static_cast</a:t>
            </a:r>
            <a:r>
              <a:rPr lang="en-US" altLang="en-US" smtClean="0"/>
              <a:t> is preferred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3.6</a:t>
            </a:r>
          </a:p>
        </p:txBody>
      </p:sp>
      <p:sp>
        <p:nvSpPr>
          <p:cNvPr id="32771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Multiple Assignment and Combined Assignment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2D16-A599-412F-8EE3-9A5D39DA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Multiple Assignment and Combined Assignment</a:t>
            </a:r>
          </a:p>
        </p:txBody>
      </p:sp>
      <p:sp>
        <p:nvSpPr>
          <p:cNvPr id="3379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Courier New" panose="02070309020205020404" pitchFamily="49" charset="0"/>
              </a:rPr>
              <a:t>=</a:t>
            </a:r>
            <a:r>
              <a:rPr lang="en-US" altLang="en-US" smtClean="0"/>
              <a:t> can be used to assign a value to multiple variables:</a:t>
            </a:r>
          </a:p>
          <a:p>
            <a:pPr lvl="1" eaLnBrk="1" hangingPunct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x = y = z = 5;</a:t>
            </a:r>
          </a:p>
          <a:p>
            <a:pPr eaLnBrk="1" hangingPunct="1"/>
            <a:r>
              <a:rPr lang="en-US" altLang="en-US" smtClean="0"/>
              <a:t>Value of </a:t>
            </a:r>
            <a:r>
              <a:rPr lang="en-US" altLang="en-US" smtClean="0">
                <a:latin typeface="Courier New" panose="02070309020205020404" pitchFamily="49" charset="0"/>
              </a:rPr>
              <a:t>=</a:t>
            </a:r>
            <a:r>
              <a:rPr lang="en-US" altLang="en-US" smtClean="0"/>
              <a:t> is the value that is assigned</a:t>
            </a:r>
          </a:p>
          <a:p>
            <a:pPr eaLnBrk="1" hangingPunct="1"/>
            <a:r>
              <a:rPr lang="en-US" altLang="en-US" smtClean="0"/>
              <a:t>Associates right to left: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en-US" smtClean="0"/>
              <a:t>	 </a:t>
            </a:r>
            <a:r>
              <a:rPr lang="en-US" altLang="en-US" smtClean="0">
                <a:latin typeface="Courier New" panose="02070309020205020404" pitchFamily="49" charset="0"/>
              </a:rPr>
              <a:t>x = (y = (z = 5));</a:t>
            </a:r>
          </a:p>
          <a:p>
            <a:pPr eaLnBrk="1" hangingPunct="1"/>
            <a:endParaRPr lang="en-US" altLang="en-US" smtClean="0"/>
          </a:p>
        </p:txBody>
      </p:sp>
      <p:grpSp>
        <p:nvGrpSpPr>
          <p:cNvPr id="33796" name="Group 12"/>
          <p:cNvGrpSpPr>
            <a:grpSpLocks/>
          </p:cNvGrpSpPr>
          <p:nvPr/>
        </p:nvGrpSpPr>
        <p:grpSpPr bwMode="auto">
          <a:xfrm>
            <a:off x="4114800" y="4876800"/>
            <a:ext cx="852488" cy="1114425"/>
            <a:chOff x="2736" y="3168"/>
            <a:chExt cx="537" cy="702"/>
          </a:xfrm>
        </p:grpSpPr>
        <p:sp>
          <p:nvSpPr>
            <p:cNvPr id="33803" name="Text Box 4"/>
            <p:cNvSpPr txBox="1">
              <a:spLocks noChangeArrowheads="1"/>
            </p:cNvSpPr>
            <p:nvPr/>
          </p:nvSpPr>
          <p:spPr bwMode="auto">
            <a:xfrm>
              <a:off x="2774" y="3504"/>
              <a:ext cx="499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value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is 5</a:t>
              </a:r>
            </a:p>
          </p:txBody>
        </p:sp>
        <p:sp>
          <p:nvSpPr>
            <p:cNvPr id="33804" name="Line 5"/>
            <p:cNvSpPr>
              <a:spLocks noChangeShapeType="1"/>
            </p:cNvSpPr>
            <p:nvPr/>
          </p:nvSpPr>
          <p:spPr bwMode="auto">
            <a:xfrm flipH="1" flipV="1">
              <a:off x="2736" y="3168"/>
              <a:ext cx="288" cy="288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7" name="Group 11"/>
          <p:cNvGrpSpPr>
            <a:grpSpLocks/>
          </p:cNvGrpSpPr>
          <p:nvPr/>
        </p:nvGrpSpPr>
        <p:grpSpPr bwMode="auto">
          <a:xfrm>
            <a:off x="2819400" y="4876800"/>
            <a:ext cx="792163" cy="1114425"/>
            <a:chOff x="1910" y="3168"/>
            <a:chExt cx="499" cy="702"/>
          </a:xfrm>
        </p:grpSpPr>
        <p:sp>
          <p:nvSpPr>
            <p:cNvPr id="33801" name="Text Box 6"/>
            <p:cNvSpPr txBox="1">
              <a:spLocks noChangeArrowheads="1"/>
            </p:cNvSpPr>
            <p:nvPr/>
          </p:nvSpPr>
          <p:spPr bwMode="auto">
            <a:xfrm>
              <a:off x="1910" y="3504"/>
              <a:ext cx="499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value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is 5</a:t>
              </a:r>
            </a:p>
          </p:txBody>
        </p:sp>
        <p:sp>
          <p:nvSpPr>
            <p:cNvPr id="33802" name="Line 7"/>
            <p:cNvSpPr>
              <a:spLocks noChangeShapeType="1"/>
            </p:cNvSpPr>
            <p:nvPr/>
          </p:nvSpPr>
          <p:spPr bwMode="auto">
            <a:xfrm flipH="1" flipV="1">
              <a:off x="2016" y="3168"/>
              <a:ext cx="144" cy="288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8" name="Group 10"/>
          <p:cNvGrpSpPr>
            <a:grpSpLocks/>
          </p:cNvGrpSpPr>
          <p:nvPr/>
        </p:nvGrpSpPr>
        <p:grpSpPr bwMode="auto">
          <a:xfrm>
            <a:off x="1524000" y="4876800"/>
            <a:ext cx="838200" cy="1114425"/>
            <a:chOff x="1104" y="3168"/>
            <a:chExt cx="528" cy="702"/>
          </a:xfrm>
        </p:grpSpPr>
        <p:sp>
          <p:nvSpPr>
            <p:cNvPr id="33799" name="Text Box 8"/>
            <p:cNvSpPr txBox="1">
              <a:spLocks noChangeArrowheads="1"/>
            </p:cNvSpPr>
            <p:nvPr/>
          </p:nvSpPr>
          <p:spPr bwMode="auto">
            <a:xfrm>
              <a:off x="1104" y="3504"/>
              <a:ext cx="52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value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FA8218"/>
                  </a:solidFill>
                </a:rPr>
                <a:t>is 5</a:t>
              </a:r>
            </a:p>
          </p:txBody>
        </p:sp>
        <p:sp>
          <p:nvSpPr>
            <p:cNvPr id="33800" name="Line 9"/>
            <p:cNvSpPr>
              <a:spLocks noChangeShapeType="1"/>
            </p:cNvSpPr>
            <p:nvPr/>
          </p:nvSpPr>
          <p:spPr bwMode="auto">
            <a:xfrm flipH="1" flipV="1">
              <a:off x="1344" y="3168"/>
              <a:ext cx="48" cy="288"/>
            </a:xfrm>
            <a:prstGeom prst="line">
              <a:avLst/>
            </a:prstGeom>
            <a:noFill/>
            <a:ln w="25400">
              <a:solidFill>
                <a:srgbClr val="FA821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Combined Assignment</a:t>
            </a:r>
          </a:p>
        </p:txBody>
      </p:sp>
      <p:sp>
        <p:nvSpPr>
          <p:cNvPr id="348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Look at the following statement:</a:t>
            </a:r>
            <a:br>
              <a:rPr lang="en-US" altLang="en-US" smtClean="0"/>
            </a:br>
            <a:endParaRPr lang="en-US" altLang="en-US" sz="3600" smtClean="0"/>
          </a:p>
          <a:p>
            <a:pPr lvl="1" eaLnBrk="1" hangingPunct="1">
              <a:buFontTx/>
              <a:buNone/>
            </a:pPr>
            <a:r>
              <a:rPr lang="en-US" altLang="en-US" sz="3200" smtClean="0"/>
              <a:t>	</a:t>
            </a:r>
            <a:r>
              <a:rPr lang="en-US" altLang="en-US" sz="3200" smtClean="0">
                <a:latin typeface="Courier New" panose="02070309020205020404" pitchFamily="49" charset="0"/>
              </a:rPr>
              <a:t>sum = sum + 1;</a:t>
            </a:r>
            <a:endParaRPr lang="en-US" altLang="en-US" sz="3200" smtClean="0"/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altLang="en-US" sz="3200" smtClean="0"/>
              <a:t/>
            </a:r>
            <a:br>
              <a:rPr lang="en-US" altLang="en-US" sz="3200" smtClean="0"/>
            </a:br>
            <a:r>
              <a:rPr lang="en-US" altLang="en-US" sz="3200" smtClean="0"/>
              <a:t>This adds 1 to the variable </a:t>
            </a:r>
            <a:r>
              <a:rPr lang="en-US" altLang="en-US" sz="3200" b="1" smtClean="0">
                <a:solidFill>
                  <a:srgbClr val="FA8218"/>
                </a:solidFill>
                <a:latin typeface="Courier New" panose="02070309020205020404" pitchFamily="49" charset="0"/>
              </a:rPr>
              <a:t>sum</a:t>
            </a:r>
            <a:r>
              <a:rPr lang="en-US" altLang="en-US" sz="3200" smtClean="0"/>
              <a:t>. 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Similar Statements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2281238"/>
            <a:ext cx="84677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Combined Assignment</a:t>
            </a:r>
          </a:p>
        </p:txBody>
      </p:sp>
      <p:sp>
        <p:nvSpPr>
          <p:cNvPr id="368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The combined assignment operators provide a shorthand for these types of statements.</a:t>
            </a:r>
          </a:p>
          <a:p>
            <a:pPr eaLnBrk="1" hangingPunct="1"/>
            <a:r>
              <a:rPr lang="en-US" altLang="en-US" sz="2800" smtClean="0"/>
              <a:t>The statement</a:t>
            </a:r>
            <a:endParaRPr lang="en-US" altLang="en-US" smtClean="0"/>
          </a:p>
          <a:p>
            <a:pPr lvl="1" eaLnBrk="1" hangingPunct="1"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sum = sum + 1;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is equivalent to</a:t>
            </a:r>
          </a:p>
          <a:p>
            <a:pPr lvl="1" eaLnBrk="1" hangingPunct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 sum += 1;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204D-7F4A-4EDD-899B-D0A969B9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Combined Assignment Operators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424113"/>
            <a:ext cx="84486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3.7</a:t>
            </a:r>
          </a:p>
        </p:txBody>
      </p:sp>
      <p:sp>
        <p:nvSpPr>
          <p:cNvPr id="3891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Formatting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Formatting Output</a:t>
            </a:r>
          </a:p>
        </p:txBody>
      </p:sp>
      <p:sp>
        <p:nvSpPr>
          <p:cNvPr id="3993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Can control how output displays for numeric, string data:</a:t>
            </a:r>
          </a:p>
          <a:p>
            <a:pPr lvl="1" eaLnBrk="1" hangingPunct="1"/>
            <a:r>
              <a:rPr lang="en-US" altLang="en-US" smtClean="0"/>
              <a:t>size</a:t>
            </a:r>
          </a:p>
          <a:p>
            <a:pPr lvl="1" eaLnBrk="1" hangingPunct="1"/>
            <a:r>
              <a:rPr lang="en-US" altLang="en-US" smtClean="0"/>
              <a:t>position</a:t>
            </a:r>
          </a:p>
          <a:p>
            <a:pPr lvl="1" eaLnBrk="1" hangingPunct="1"/>
            <a:r>
              <a:rPr lang="en-US" altLang="en-US" smtClean="0"/>
              <a:t>number of digits</a:t>
            </a:r>
          </a:p>
          <a:p>
            <a:pPr eaLnBrk="1" hangingPunct="1"/>
            <a:r>
              <a:rPr lang="en-US" altLang="en-US" smtClean="0"/>
              <a:t>Requires </a:t>
            </a:r>
            <a:r>
              <a:rPr lang="en-US" altLang="en-US" smtClean="0">
                <a:latin typeface="Courier New" panose="02070309020205020404" pitchFamily="49" charset="0"/>
              </a:rPr>
              <a:t>iomanip</a:t>
            </a:r>
            <a:r>
              <a:rPr lang="en-US" altLang="en-US" smtClean="0"/>
              <a:t> header file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Stream Manipulators</a:t>
            </a:r>
          </a:p>
        </p:txBody>
      </p:sp>
      <p:sp>
        <p:nvSpPr>
          <p:cNvPr id="409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Used to control how an output field is displayed</a:t>
            </a:r>
            <a:br>
              <a:rPr lang="en-US" altLang="en-US" smtClean="0"/>
            </a:b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Some affect just the next value displayed: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setw(x)</a:t>
            </a:r>
            <a:r>
              <a:rPr lang="en-US" altLang="en-US" smtClean="0"/>
              <a:t>: print in a field at least </a:t>
            </a:r>
            <a:r>
              <a:rPr lang="en-US" altLang="en-US" smtClean="0">
                <a:latin typeface="Courier New" panose="02070309020205020404" pitchFamily="49" charset="0"/>
              </a:rPr>
              <a:t>x</a:t>
            </a:r>
            <a:r>
              <a:rPr lang="en-US" altLang="en-US" smtClean="0"/>
              <a:t> spaces wide.  Use more spaces if field is not wide enough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504F-16E9-490A-ABFA-416892D8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dirty="0"/>
              <a:t> Stream Manipulator in Program 3-13</a:t>
            </a: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1447800"/>
            <a:ext cx="5000625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Box 4"/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C378-30DA-42E5-9A68-E7788360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dirty="0"/>
              <a:t> Stream Manipulator in Program 3-13</a:t>
            </a:r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819400"/>
            <a:ext cx="6172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Stream Manipulators</a:t>
            </a:r>
          </a:p>
        </p:txBody>
      </p:sp>
      <p:sp>
        <p:nvSpPr>
          <p:cNvPr id="4403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Some affect values until changed again: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fixed</a:t>
            </a:r>
            <a:r>
              <a:rPr lang="en-US" altLang="en-US" smtClean="0"/>
              <a:t>: use decimal notation for floating-point values</a:t>
            </a:r>
            <a:endParaRPr lang="en-US" altLang="en-US" smtClean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setprecision(x)</a:t>
            </a:r>
            <a:r>
              <a:rPr lang="en-US" altLang="en-US" smtClean="0"/>
              <a:t>: when used with </a:t>
            </a:r>
            <a:r>
              <a:rPr lang="en-US" altLang="en-US" smtClean="0">
                <a:latin typeface="Courier New" panose="02070309020205020404" pitchFamily="49" charset="0"/>
              </a:rPr>
              <a:t>fixed</a:t>
            </a:r>
            <a:r>
              <a:rPr lang="en-US" altLang="en-US" smtClean="0"/>
              <a:t>, print floating-point value using </a:t>
            </a:r>
            <a:r>
              <a:rPr lang="en-US" altLang="en-US" smtClean="0">
                <a:latin typeface="Courier New" panose="02070309020205020404" pitchFamily="49" charset="0"/>
              </a:rPr>
              <a:t>x</a:t>
            </a:r>
            <a:r>
              <a:rPr lang="en-US" altLang="en-US" smtClean="0"/>
              <a:t> digits after the decimal.  Without </a:t>
            </a:r>
            <a:r>
              <a:rPr lang="en-US" altLang="en-US" smtClean="0">
                <a:latin typeface="Courier New" panose="02070309020205020404" pitchFamily="49" charset="0"/>
              </a:rPr>
              <a:t>fixed</a:t>
            </a:r>
            <a:r>
              <a:rPr lang="en-US" altLang="en-US" smtClean="0"/>
              <a:t>, print floating-point value using x significant digits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showpoint</a:t>
            </a:r>
            <a:r>
              <a:rPr lang="en-US" altLang="en-US" smtClean="0"/>
              <a:t>: always print decimal for floating-point values 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8A05-AD10-4940-8D39-575B5EF3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More Stream Manipulators in Program 3-17</a:t>
            </a:r>
          </a:p>
        </p:txBody>
      </p:sp>
      <p:sp>
        <p:nvSpPr>
          <p:cNvPr id="45059" name="TextBox 3"/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6515100" cy="478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More Stream Manipulators in Program 3-17</a:t>
            </a:r>
          </a:p>
        </p:txBody>
      </p:sp>
      <p:pic>
        <p:nvPicPr>
          <p:cNvPr id="4608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5943600" cy="472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Stream Manipulators</a:t>
            </a: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114550"/>
            <a:ext cx="785812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3.8</a:t>
            </a:r>
          </a:p>
        </p:txBody>
      </p:sp>
      <p:sp>
        <p:nvSpPr>
          <p:cNvPr id="48131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Working with Characters and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smtClean="0"/>
              <a:t>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CAFC-94BC-444D-A2D9-4EBC698F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Working with Characters and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/>
              <a:t> Objects</a:t>
            </a:r>
            <a:br>
              <a:rPr lang="en-US" dirty="0"/>
            </a:br>
            <a:endParaRPr lang="en-US" dirty="0"/>
          </a:p>
        </p:txBody>
      </p:sp>
      <p:sp>
        <p:nvSpPr>
          <p:cNvPr id="491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Using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mtClean="0"/>
              <a:t> with the &gt;&gt; operator to input strings can cause problems:</a:t>
            </a:r>
          </a:p>
          <a:p>
            <a:pPr eaLnBrk="1" hangingPunct="1"/>
            <a:r>
              <a:rPr lang="en-US" altLang="en-US" smtClean="0"/>
              <a:t>It passes over and ignores any leading </a:t>
            </a:r>
            <a:r>
              <a:rPr lang="en-US" altLang="en-US" i="1" smtClean="0"/>
              <a:t>whitespace characters (spaces, tabs, or line breaks)</a:t>
            </a:r>
          </a:p>
          <a:p>
            <a:pPr eaLnBrk="1" hangingPunct="1"/>
            <a:r>
              <a:rPr lang="en-US" altLang="en-US" smtClean="0"/>
              <a:t>To work around this problem, you can use a C++ function named </a:t>
            </a:r>
            <a:r>
              <a:rPr lang="en-US" altLang="en-US" b="1" smtClean="0">
                <a:solidFill>
                  <a:srgbClr val="FA82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en-US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0F38-4321-4085-BDB6-9267CA85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Using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getline</a:t>
            </a:r>
            <a:r>
              <a:rPr lang="en-US" dirty="0"/>
              <a:t> in Program 3-19</a:t>
            </a:r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1174750"/>
            <a:ext cx="5476875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7D42-6612-4B66-8CA6-820770D2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Working with Characters and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/>
              <a:t> Objects</a:t>
            </a:r>
          </a:p>
        </p:txBody>
      </p:sp>
      <p:sp>
        <p:nvSpPr>
          <p:cNvPr id="5120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To read a single character: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Use </a:t>
            </a:r>
            <a:r>
              <a:rPr lang="en-US" altLang="en-US" smtClean="0">
                <a:latin typeface="Courier New" panose="02070309020205020404" pitchFamily="49" charset="0"/>
              </a:rPr>
              <a:t>cin</a:t>
            </a:r>
            <a:r>
              <a:rPr lang="en-US" altLang="en-US" smtClean="0"/>
              <a:t>:</a:t>
            </a:r>
          </a:p>
          <a:p>
            <a:pPr lvl="2" eaLnBrk="1" hangingPunct="1">
              <a:lnSpc>
                <a:spcPct val="90000"/>
              </a:lnSpc>
              <a:buClr>
                <a:srgbClr val="008000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char ch;</a:t>
            </a:r>
          </a:p>
          <a:p>
            <a:pPr lvl="2" eaLnBrk="1" hangingPunct="1">
              <a:lnSpc>
                <a:spcPct val="90000"/>
              </a:lnSpc>
              <a:buClr>
                <a:srgbClr val="008000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cout &lt;&lt; "Strike any key to continue";</a:t>
            </a:r>
          </a:p>
          <a:p>
            <a:pPr lvl="2" eaLnBrk="1" hangingPunct="1">
              <a:lnSpc>
                <a:spcPct val="90000"/>
              </a:lnSpc>
              <a:buClr>
                <a:srgbClr val="008000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cin &gt;&gt; ch;</a:t>
            </a:r>
          </a:p>
          <a:p>
            <a:pPr lvl="2" eaLnBrk="1" hangingPunct="1">
              <a:lnSpc>
                <a:spcPct val="90000"/>
              </a:lnSpc>
              <a:buClr>
                <a:srgbClr val="008000"/>
              </a:buClr>
              <a:buFontTx/>
              <a:buNone/>
            </a:pPr>
            <a:r>
              <a:rPr lang="en-US" altLang="en-US" smtClean="0"/>
              <a:t>Problem: will skip over blanks, tabs, </a:t>
            </a:r>
            <a:r>
              <a:rPr lang="en-US" altLang="en-US" smtClean="0">
                <a:latin typeface="Courier New" panose="02070309020205020404" pitchFamily="49" charset="0"/>
              </a:rPr>
              <a:t>&lt;CR&gt;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Use </a:t>
            </a:r>
            <a:r>
              <a:rPr lang="en-US" altLang="en-US" smtClean="0">
                <a:latin typeface="Courier New" panose="02070309020205020404" pitchFamily="49" charset="0"/>
              </a:rPr>
              <a:t>cin.get()</a:t>
            </a:r>
            <a:r>
              <a:rPr lang="en-US" altLang="en-US" smtClean="0"/>
              <a:t>: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cin.get(ch);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mtClean="0"/>
              <a:t>Will read the next character entered, even whitespace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6809-EF76-4B82-B9CA-2190A095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Using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cin.get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/>
              <a:t> in Program 3-21</a:t>
            </a:r>
          </a:p>
        </p:txBody>
      </p:sp>
      <p:pic>
        <p:nvPicPr>
          <p:cNvPr id="522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295400"/>
            <a:ext cx="6934200" cy="514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2010-5559-4D6E-AEF8-9D2C9DC6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Working with Characters and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/>
              <a:t> Objects</a:t>
            </a:r>
          </a:p>
        </p:txBody>
      </p:sp>
      <p:sp>
        <p:nvSpPr>
          <p:cNvPr id="5325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Mixing </a:t>
            </a:r>
            <a:r>
              <a:rPr lang="en-US" altLang="en-US" sz="2800" smtClean="0">
                <a:latin typeface="Courier New" panose="02070309020205020404" pitchFamily="49" charset="0"/>
              </a:rPr>
              <a:t>cin &gt;&gt;</a:t>
            </a:r>
            <a:r>
              <a:rPr lang="en-US" altLang="en-US" sz="2800" smtClean="0"/>
              <a:t> and </a:t>
            </a:r>
            <a:r>
              <a:rPr lang="en-US" altLang="en-US" sz="2800" smtClean="0">
                <a:latin typeface="Courier New" panose="02070309020205020404" pitchFamily="49" charset="0"/>
              </a:rPr>
              <a:t>cin.get()</a:t>
            </a:r>
            <a:r>
              <a:rPr lang="en-US" altLang="en-US" sz="2800" smtClean="0"/>
              <a:t> in the same program can cause input errors that are hard to detect</a:t>
            </a:r>
          </a:p>
          <a:p>
            <a:pPr eaLnBrk="1" hangingPunct="1"/>
            <a:r>
              <a:rPr lang="en-US" altLang="en-US" sz="2800" smtClean="0"/>
              <a:t>To skip over unneeded characters that are still in the keyboard buffer, use </a:t>
            </a:r>
            <a:r>
              <a:rPr lang="en-US" altLang="en-US" sz="2800" smtClean="0">
                <a:latin typeface="Courier New" panose="02070309020205020404" pitchFamily="49" charset="0"/>
              </a:rPr>
              <a:t>cin.ignore()</a:t>
            </a:r>
            <a:r>
              <a:rPr lang="en-US" altLang="en-US" sz="2800" smtClean="0"/>
              <a:t>: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/>
              <a:t>	</a:t>
            </a:r>
            <a:r>
              <a:rPr lang="en-US" altLang="en-US" sz="2400" smtClean="0">
                <a:latin typeface="Courier New" panose="02070309020205020404" pitchFamily="49" charset="0"/>
              </a:rPr>
              <a:t>cin.ignore(); // skip next char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cin.ignore(10, '\n'); // skip the next</a:t>
            </a:r>
          </a:p>
          <a:p>
            <a:pPr lvl="1" eaLnBrk="1" hangingPunct="1">
              <a:buFontTx/>
              <a:buNone/>
            </a:pPr>
            <a:r>
              <a:rPr lang="en-US" altLang="en-US" sz="2400" smtClean="0"/>
              <a:t>                              </a:t>
            </a:r>
            <a:r>
              <a:rPr lang="en-US" altLang="en-US" sz="2400" smtClean="0">
                <a:latin typeface="Courier New" panose="02070309020205020404" pitchFamily="49" charset="0"/>
              </a:rPr>
              <a:t>// 10 char. or until a '\n'</a:t>
            </a:r>
            <a:endParaRPr lang="en-US" altLang="en-US" sz="2400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FCE6-4113-4BE8-BC2A-D8392392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b="1" dirty="0"/>
              <a:t> </a:t>
            </a:r>
            <a:r>
              <a:rPr lang="en-US" dirty="0"/>
              <a:t>Member Functions and Operators</a:t>
            </a:r>
          </a:p>
        </p:txBody>
      </p:sp>
      <p:sp>
        <p:nvSpPr>
          <p:cNvPr id="542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To find the length of a string: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To concatenate (join) multiple strings:</a:t>
            </a:r>
          </a:p>
        </p:txBody>
      </p:sp>
      <p:sp>
        <p:nvSpPr>
          <p:cNvPr id="54276" name="Rectangle 3"/>
          <p:cNvSpPr>
            <a:spLocks noChangeArrowheads="1"/>
          </p:cNvSpPr>
          <p:nvPr/>
        </p:nvSpPr>
        <p:spPr bwMode="auto">
          <a:xfrm>
            <a:off x="1447800" y="2209800"/>
            <a:ext cx="4572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string state = "Texas";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int size = state.length();</a:t>
            </a:r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1447800" y="4114800"/>
            <a:ext cx="66294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greeting2 = greeting1 + name1;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greeting1 = greeting1 + name2;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Or using the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altLang="en-US" sz="2400"/>
              <a:t> combined assignment operator: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	greeting1 += name2;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3.9</a:t>
            </a:r>
          </a:p>
        </p:txBody>
      </p:sp>
      <p:sp>
        <p:nvSpPr>
          <p:cNvPr id="55299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More Mathematical Library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CA7A-2463-4962-A3F9-AB40B4EE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More Mathematical Library Functions</a:t>
            </a:r>
          </a:p>
        </p:txBody>
      </p:sp>
      <p:sp>
        <p:nvSpPr>
          <p:cNvPr id="5632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Require </a:t>
            </a:r>
            <a:r>
              <a:rPr lang="en-US" altLang="en-US" smtClean="0">
                <a:latin typeface="Courier New" panose="02070309020205020404" pitchFamily="49" charset="0"/>
              </a:rPr>
              <a:t>cmath</a:t>
            </a:r>
            <a:r>
              <a:rPr lang="en-US" altLang="en-US" smtClean="0"/>
              <a:t> header file</a:t>
            </a:r>
          </a:p>
          <a:p>
            <a:pPr eaLnBrk="1" hangingPunct="1"/>
            <a:r>
              <a:rPr lang="en-US" altLang="en-US" smtClean="0"/>
              <a:t>Take </a:t>
            </a:r>
            <a:r>
              <a:rPr lang="en-US" altLang="en-US" smtClean="0">
                <a:latin typeface="Courier New" panose="02070309020205020404" pitchFamily="49" charset="0"/>
              </a:rPr>
              <a:t>double</a:t>
            </a:r>
            <a:r>
              <a:rPr lang="en-US" altLang="en-US" smtClean="0"/>
              <a:t> as input, return a </a:t>
            </a:r>
            <a:r>
              <a:rPr lang="en-US" altLang="en-US" smtClean="0">
                <a:latin typeface="Courier New" panose="02070309020205020404" pitchFamily="49" charset="0"/>
              </a:rPr>
              <a:t>double</a:t>
            </a:r>
            <a:endParaRPr lang="en-US" altLang="en-US" smtClean="0"/>
          </a:p>
          <a:p>
            <a:pPr eaLnBrk="1" hangingPunct="1"/>
            <a:r>
              <a:rPr lang="en-US" altLang="en-US" smtClean="0"/>
              <a:t>Commonly used functions:</a:t>
            </a:r>
          </a:p>
          <a:p>
            <a:pPr eaLnBrk="1" hangingPunct="1"/>
            <a:endParaRPr lang="en-US" altLang="en-US" smtClean="0"/>
          </a:p>
        </p:txBody>
      </p:sp>
      <p:graphicFrame>
        <p:nvGraphicFramePr>
          <p:cNvPr id="4" name="Group 32">
            <a:extLst>
              <a:ext uri="{FF2B5EF4-FFF2-40B4-BE49-F238E27FC236}">
                <a16:creationId xmlns:a16="http://schemas.microsoft.com/office/drawing/2014/main" id="{F5ADF0E1-AD4B-403D-8151-35F28FF2983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733800"/>
          <a:ext cx="6781800" cy="2413000"/>
        </p:xfrm>
        <a:graphic>
          <a:graphicData uri="http://schemas.openxmlformats.org/drawingml/2006/table">
            <a:tbl>
              <a:tblPr/>
              <a:tblGrid>
                <a:gridCol w="161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0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sin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Sine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cos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Cosine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tan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Tangent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sqrt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Square root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log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Natural (e) log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-16" charset="0"/>
                          <a:ea typeface="ヒラギノ角ゴ Pro W3" pitchFamily="-16" charset="-128"/>
                        </a:rPr>
                        <a:t>abs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Absolute value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(takes and returns an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int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 W3" pitchFamily="-16" charset="-128"/>
                        </a:rPr>
                        <a:t>)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ヒラギノ角ゴ Pro W3" pitchFamily="-16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95B6-C60E-4646-9A59-4406AC9B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More Mathematical Library Functions</a:t>
            </a:r>
          </a:p>
        </p:txBody>
      </p:sp>
      <p:sp>
        <p:nvSpPr>
          <p:cNvPr id="5734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These require </a:t>
            </a:r>
            <a:r>
              <a:rPr lang="en-US" altLang="en-US" smtClean="0">
                <a:latin typeface="Courier New" panose="02070309020205020404" pitchFamily="49" charset="0"/>
              </a:rPr>
              <a:t>cstdlib</a:t>
            </a:r>
            <a:r>
              <a:rPr lang="en-US" altLang="en-US" smtClean="0"/>
              <a:t> header file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rand()</a:t>
            </a:r>
            <a:r>
              <a:rPr lang="en-US" altLang="en-US" smtClean="0"/>
              <a:t>: returns a random number (</a:t>
            </a:r>
            <a:r>
              <a:rPr lang="en-US" altLang="en-US" smtClean="0">
                <a:latin typeface="Courier New" panose="02070309020205020404" pitchFamily="49" charset="0"/>
              </a:rPr>
              <a:t>int</a:t>
            </a:r>
            <a:r>
              <a:rPr lang="en-US" altLang="en-US" smtClean="0"/>
              <a:t>) between </a:t>
            </a:r>
            <a:r>
              <a:rPr lang="en-US" altLang="en-US" smtClean="0">
                <a:latin typeface="Courier New" panose="02070309020205020404" pitchFamily="49" charset="0"/>
              </a:rPr>
              <a:t>0</a:t>
            </a:r>
            <a:r>
              <a:rPr lang="en-US" altLang="en-US" smtClean="0"/>
              <a:t> and the largest int the compute holds. Yields same sequence of numbers each time program is run.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srand(x)</a:t>
            </a:r>
            <a:r>
              <a:rPr lang="en-US" altLang="en-US" smtClean="0"/>
              <a:t>: initializes random number generator with </a:t>
            </a:r>
            <a:r>
              <a:rPr lang="en-US" altLang="en-US" smtClean="0">
                <a:latin typeface="Courier New" panose="02070309020205020404" pitchFamily="49" charset="0"/>
              </a:rPr>
              <a:t>unsigned int x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3.10</a:t>
            </a:r>
          </a:p>
        </p:txBody>
      </p:sp>
      <p:sp>
        <p:nvSpPr>
          <p:cNvPr id="58371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Hand Tracing a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Hand Tracing a Program</a:t>
            </a:r>
          </a:p>
        </p:txBody>
      </p:sp>
      <p:sp>
        <p:nvSpPr>
          <p:cNvPr id="5939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Hand trace a program: act as if you are the computer, executing a program: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step through and ‘execute’ each statement, one-by-one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record the contents of variables after statement execution, using a hand trace chart (table)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Useful to locate logic or mathematical errors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9238-B4BD-4F88-8094-2D15E949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Program 3-27 with Hand Trace Chart</a:t>
            </a:r>
          </a:p>
        </p:txBody>
      </p:sp>
      <p:pic>
        <p:nvPicPr>
          <p:cNvPr id="604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65275"/>
            <a:ext cx="6400800" cy="479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3.11</a:t>
            </a:r>
          </a:p>
        </p:txBody>
      </p:sp>
      <p:sp>
        <p:nvSpPr>
          <p:cNvPr id="61443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A 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BB688-C9F4-44E0-B376-76DC48180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General Crates, Inc. builds custom-designed wooden crates. </a:t>
            </a:r>
          </a:p>
          <a:p>
            <a:pPr>
              <a:defRPr/>
            </a:pPr>
            <a:r>
              <a:rPr lang="en-US" dirty="0"/>
              <a:t>You have been asked to write a program that calculates the: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Volume (in cubic feet)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Cost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Customer price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Profit of any crate GCI builds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Variables</a:t>
            </a:r>
          </a:p>
        </p:txBody>
      </p:sp>
      <p:pic>
        <p:nvPicPr>
          <p:cNvPr id="634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58925"/>
            <a:ext cx="74676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Program Design</a:t>
            </a: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762000" y="1371600"/>
            <a:ext cx="76962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The program must perform the following general steps: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Step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Ask the user to enter the dimensions of the crate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Step 2: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Calculate: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	the crate’s volume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	the cost of building the crate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	the customer’s charge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	the profit made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Step 3: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	Display the data calculated in Step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 Hierarchy Chart</a:t>
            </a:r>
          </a:p>
        </p:txBody>
      </p:sp>
      <p:pic>
        <p:nvPicPr>
          <p:cNvPr id="655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2209800"/>
            <a:ext cx="8350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Get Crate Dimensions</a:t>
            </a:r>
          </a:p>
        </p:txBody>
      </p:sp>
      <p:pic>
        <p:nvPicPr>
          <p:cNvPr id="665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74875"/>
            <a:ext cx="8839200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982B-522D-4BA1-8AEF-82A98BDD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Calculate Volume, Cost, Customer Charge, and Profit</a:t>
            </a:r>
          </a:p>
        </p:txBody>
      </p:sp>
      <p:pic>
        <p:nvPicPr>
          <p:cNvPr id="675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2376488"/>
            <a:ext cx="86645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Display Calculated Data</a:t>
            </a:r>
          </a:p>
        </p:txBody>
      </p:sp>
      <p:pic>
        <p:nvPicPr>
          <p:cNvPr id="686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0"/>
            <a:ext cx="8686800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Psuedocode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762000" y="1447800"/>
            <a:ext cx="67818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Ask the user to input the crate's length.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Ask the user to input the crate's width.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Ask the user to input the crate's height.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Calculate the crate's volume.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Calculate the cost of building the crate.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Calculate the customer's charge for the crate.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Calculate the profit made from the crate.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Display the crate's volume.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Display the cost of building the crate.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Display the customer's charge for the crate.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Display the profit made from the crate.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Calculations</a:t>
            </a:r>
          </a:p>
        </p:txBody>
      </p:sp>
      <p:sp>
        <p:nvSpPr>
          <p:cNvPr id="70659" name="Rectangle 2"/>
          <p:cNvSpPr>
            <a:spLocks noChangeArrowheads="1"/>
          </p:cNvSpPr>
          <p:nvPr/>
        </p:nvSpPr>
        <p:spPr bwMode="auto">
          <a:xfrm>
            <a:off x="381000" y="1524000"/>
            <a:ext cx="8382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The following formulas will be used to calculate the crate’s volume, cost, charge, and profit: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	volume = length × width × height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	cost = volume × 0.23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	charge = volume × 0.5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	profit = charge −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Program</a:t>
            </a:r>
          </a:p>
        </p:txBody>
      </p:sp>
      <p:pic>
        <p:nvPicPr>
          <p:cNvPr id="716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9200"/>
            <a:ext cx="6943725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TextBox 3"/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Program</a:t>
            </a:r>
          </a:p>
        </p:txBody>
      </p:sp>
      <p:pic>
        <p:nvPicPr>
          <p:cNvPr id="727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3" y="1447800"/>
            <a:ext cx="6962775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TextBox 3"/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Program</a:t>
            </a:r>
          </a:p>
        </p:txBody>
      </p:sp>
      <p:pic>
        <p:nvPicPr>
          <p:cNvPr id="737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1600200"/>
            <a:ext cx="83153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6550777F29FC4EAE6EA1A4C0F2AD60" ma:contentTypeVersion="13" ma:contentTypeDescription="Create a new document." ma:contentTypeScope="" ma:versionID="f04f536baea50c7dceb93154ecd85938">
  <xsd:schema xmlns:xsd="http://www.w3.org/2001/XMLSchema" xmlns:xs="http://www.w3.org/2001/XMLSchema" xmlns:p="http://schemas.microsoft.com/office/2006/metadata/properties" xmlns:ns3="93bc0456-ae81-429f-8267-333bd39f93dc" xmlns:ns4="e186162f-713a-4acf-ac19-2858f26c659b" targetNamespace="http://schemas.microsoft.com/office/2006/metadata/properties" ma:root="true" ma:fieldsID="73375375d42fc6dcd23af85632ab16d2" ns3:_="" ns4:_="">
    <xsd:import namespace="93bc0456-ae81-429f-8267-333bd39f93dc"/>
    <xsd:import namespace="e186162f-713a-4acf-ac19-2858f26c659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bc0456-ae81-429f-8267-333bd39f93d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6162f-713a-4acf-ac19-2858f26c65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08D1EA-1855-498B-9F78-E76969157E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bc0456-ae81-429f-8267-333bd39f93dc"/>
    <ds:schemaRef ds:uri="e186162f-713a-4acf-ac19-2858f26c65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890570-4858-4E82-80F5-9F0EDB74E3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D71E6D-9C61-44A1-A93E-8BC3263E7677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e186162f-713a-4acf-ac19-2858f26c659b"/>
    <ds:schemaRef ds:uri="93bc0456-ae81-429f-8267-333bd39f93d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</TotalTime>
  <Words>1335</Words>
  <Application>Microsoft Office PowerPoint</Application>
  <PresentationFormat>On-screen Show (4:3)</PresentationFormat>
  <Paragraphs>289</Paragraphs>
  <Slides>69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Calibri</vt:lpstr>
      <vt:lpstr>Times New Roman</vt:lpstr>
      <vt:lpstr>Courier New</vt:lpstr>
      <vt:lpstr>Times</vt:lpstr>
      <vt:lpstr>ヒラギノ角ゴ Pro W3</vt:lpstr>
      <vt:lpstr>Default Design</vt:lpstr>
      <vt:lpstr>Microsoft Equation 3.0</vt:lpstr>
      <vt:lpstr>PowerPoint Presentation</vt:lpstr>
      <vt:lpstr>3.1</vt:lpstr>
      <vt:lpstr>The cin Object</vt:lpstr>
      <vt:lpstr>The cin Object in Program 3-1</vt:lpstr>
      <vt:lpstr>The cin Object</vt:lpstr>
      <vt:lpstr>Displaying a Prompt</vt:lpstr>
      <vt:lpstr>The cin Object</vt:lpstr>
      <vt:lpstr>The cin Object Gathers Multiple Values in Program 3-2</vt:lpstr>
      <vt:lpstr>The cin Object Reads Different Data Types in Program 3-3</vt:lpstr>
      <vt:lpstr>3.2</vt:lpstr>
      <vt:lpstr>Mathematical Expressions</vt:lpstr>
      <vt:lpstr>Order of Operations</vt:lpstr>
      <vt:lpstr>Order of Operations</vt:lpstr>
      <vt:lpstr>Associativity of Operators</vt:lpstr>
      <vt:lpstr>Grouping with Parentheses</vt:lpstr>
      <vt:lpstr>Algebraic Expressions</vt:lpstr>
      <vt:lpstr>Algebraic Expressions</vt:lpstr>
      <vt:lpstr>3.3</vt:lpstr>
      <vt:lpstr>When You Mix Apples with Oranges: Type Conversion</vt:lpstr>
      <vt:lpstr>Hierarchy of Types</vt:lpstr>
      <vt:lpstr>Type Coercion</vt:lpstr>
      <vt:lpstr>Coercion Rules</vt:lpstr>
      <vt:lpstr>3.4</vt:lpstr>
      <vt:lpstr>Overflow and Underflow</vt:lpstr>
      <vt:lpstr>3.5</vt:lpstr>
      <vt:lpstr>Type Casting</vt:lpstr>
      <vt:lpstr>Type Casting in Program 3-9</vt:lpstr>
      <vt:lpstr>C-Style and Prestandard Type Cast Expressions</vt:lpstr>
      <vt:lpstr>3.6</vt:lpstr>
      <vt:lpstr>Multiple Assignment and Combined Assignment</vt:lpstr>
      <vt:lpstr>Combined Assignment</vt:lpstr>
      <vt:lpstr>Other Similar Statements</vt:lpstr>
      <vt:lpstr>Combined Assignment</vt:lpstr>
      <vt:lpstr>Combined Assignment Operators</vt:lpstr>
      <vt:lpstr>3.7</vt:lpstr>
      <vt:lpstr>Formatting Output</vt:lpstr>
      <vt:lpstr>Stream Manipulators</vt:lpstr>
      <vt:lpstr>The setw Stream Manipulator in Program 3-13</vt:lpstr>
      <vt:lpstr>The setw Stream Manipulator in Program 3-13</vt:lpstr>
      <vt:lpstr>Stream Manipulators</vt:lpstr>
      <vt:lpstr>More Stream Manipulators in Program 3-17</vt:lpstr>
      <vt:lpstr>More Stream Manipulators in Program 3-17</vt:lpstr>
      <vt:lpstr>Stream Manipulators</vt:lpstr>
      <vt:lpstr>3.8</vt:lpstr>
      <vt:lpstr> Working with Characters and string Objects </vt:lpstr>
      <vt:lpstr>Using getline in Program 3-19</vt:lpstr>
      <vt:lpstr>Working with Characters and string Objects</vt:lpstr>
      <vt:lpstr>Using cin.get() in Program 3-21</vt:lpstr>
      <vt:lpstr>Working with Characters and string Objects</vt:lpstr>
      <vt:lpstr>string Member Functions and Operators</vt:lpstr>
      <vt:lpstr>3.9</vt:lpstr>
      <vt:lpstr>More Mathematical Library Functions</vt:lpstr>
      <vt:lpstr>More Mathematical Library Functions</vt:lpstr>
      <vt:lpstr>3.10</vt:lpstr>
      <vt:lpstr>Hand Tracing a Program</vt:lpstr>
      <vt:lpstr>Program 3-27 with Hand Trace Chart</vt:lpstr>
      <vt:lpstr>3.11</vt:lpstr>
      <vt:lpstr>A Case Study</vt:lpstr>
      <vt:lpstr>Variables</vt:lpstr>
      <vt:lpstr>Program Design</vt:lpstr>
      <vt:lpstr>General Hierarchy Chart</vt:lpstr>
      <vt:lpstr>Get Crate Dimensions</vt:lpstr>
      <vt:lpstr>Calculate Volume, Cost, Customer Charge, and Profit</vt:lpstr>
      <vt:lpstr>Display Calculated Data</vt:lpstr>
      <vt:lpstr>Psuedocode</vt:lpstr>
      <vt:lpstr>Calculations</vt:lpstr>
      <vt:lpstr>The Program</vt:lpstr>
      <vt:lpstr>The Program</vt:lpstr>
      <vt:lpstr>The Program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subject>Introduction to C++</dc:subject>
  <dc:creator>Tony Gaddis</dc:creator>
  <cp:lastModifiedBy>Dawn Ellis</cp:lastModifiedBy>
  <cp:revision>104</cp:revision>
  <dcterms:created xsi:type="dcterms:W3CDTF">2011-02-16T20:47:20Z</dcterms:created>
  <dcterms:modified xsi:type="dcterms:W3CDTF">2020-01-14T20:12:29Z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0x010100506550777F29FC4EAE6EA1A4C0F2AD60</vt:lpwstr>
  </property>
</Properties>
</file>